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91" r:id="rId2"/>
    <p:sldId id="293" r:id="rId3"/>
    <p:sldId id="290" r:id="rId4"/>
    <p:sldId id="295" r:id="rId5"/>
    <p:sldId id="287" r:id="rId6"/>
    <p:sldId id="288" r:id="rId7"/>
    <p:sldId id="262" r:id="rId8"/>
    <p:sldId id="297" r:id="rId9"/>
    <p:sldId id="296" r:id="rId10"/>
    <p:sldId id="265" r:id="rId11"/>
    <p:sldId id="266" r:id="rId12"/>
    <p:sldId id="277" r:id="rId13"/>
    <p:sldId id="278" r:id="rId14"/>
    <p:sldId id="280" r:id="rId15"/>
    <p:sldId id="282" r:id="rId16"/>
    <p:sldId id="284" r:id="rId17"/>
    <p:sldId id="272" r:id="rId18"/>
    <p:sldId id="285" r:id="rId19"/>
    <p:sldId id="274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433"/>
    <a:srgbClr val="83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01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076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475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D53AB28A-DE02-A14D-5080-1D8442199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57250"/>
            <a:ext cx="4381500" cy="1424583"/>
          </a:xfrm>
          <a:prstGeom prst="rect">
            <a:avLst/>
          </a:prstGeom>
        </p:spPr>
      </p:pic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540C6BE5-26BD-FC27-6E68-4ED7ACE8343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14287500" y="666750"/>
            <a:ext cx="3429000" cy="3429000"/>
          </a:xfrm>
          <a:prstGeom prst="rect">
            <a:avLst/>
          </a:prstGeom>
        </p:spPr>
      </p:pic>
      <p:sp>
        <p:nvSpPr>
          <p:cNvPr id="30" name="Text 0">
            <a:extLst>
              <a:ext uri="{FF2B5EF4-FFF2-40B4-BE49-F238E27FC236}">
                <a16:creationId xmlns:a16="http://schemas.microsoft.com/office/drawing/2014/main" id="{1B2860D9-44A0-D033-09A5-3BE5F55526F3}"/>
              </a:ext>
            </a:extLst>
          </p:cNvPr>
          <p:cNvSpPr/>
          <p:nvPr/>
        </p:nvSpPr>
        <p:spPr>
          <a:xfrm>
            <a:off x="1047750" y="3747790"/>
            <a:ext cx="15304770" cy="2263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350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Multi-Hop Beacon Dissemination for Infrastructure-Free Maritime Proximity Detection</a:t>
            </a:r>
            <a:endParaRPr lang="en-US" sz="495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67714F23-F5C2-0DF5-D552-A11CB71B4223}"/>
              </a:ext>
            </a:extLst>
          </p:cNvPr>
          <p:cNvSpPr/>
          <p:nvPr/>
        </p:nvSpPr>
        <p:spPr>
          <a:xfrm>
            <a:off x="1047750" y="6315968"/>
            <a:ext cx="17811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9D3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Implementazione multi-hop del simulatore ProSafe e valutazione delle prestazioni</a:t>
            </a:r>
            <a:endParaRPr lang="en-US" sz="255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FD38A696-9E29-9646-05FD-A628929FA8E4}"/>
              </a:ext>
            </a:extLst>
          </p:cNvPr>
          <p:cNvSpPr/>
          <p:nvPr/>
        </p:nvSpPr>
        <p:spPr>
          <a:xfrm>
            <a:off x="1047750" y="8172450"/>
            <a:ext cx="16192500" cy="1905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8330F1BD-D07A-7884-345F-7D022D8070C8}"/>
              </a:ext>
            </a:extLst>
          </p:cNvPr>
          <p:cNvSpPr/>
          <p:nvPr/>
        </p:nvSpPr>
        <p:spPr>
          <a:xfrm>
            <a:off x="1047750" y="8553450"/>
            <a:ext cx="325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D8B7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STUDENTE</a:t>
            </a:r>
            <a:endParaRPr lang="en-US" sz="18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C5743653-2314-A668-93E1-0FF207871561}"/>
              </a:ext>
            </a:extLst>
          </p:cNvPr>
          <p:cNvSpPr/>
          <p:nvPr/>
        </p:nvSpPr>
        <p:spPr>
          <a:xfrm>
            <a:off x="1047750" y="8886825"/>
            <a:ext cx="325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Filippo Pierbattisti</a:t>
            </a:r>
            <a:endParaRPr lang="en-US" sz="225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4A381D4A-21CC-8FC5-C2E0-1F5575815183}"/>
              </a:ext>
            </a:extLst>
          </p:cNvPr>
          <p:cNvSpPr/>
          <p:nvPr/>
        </p:nvSpPr>
        <p:spPr>
          <a:xfrm>
            <a:off x="1047750" y="9286875"/>
            <a:ext cx="3253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D3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Matricola 2114213</a:t>
            </a:r>
            <a:endParaRPr lang="en-US" sz="18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1D217700-979F-47FF-5815-54EAE7615316}"/>
              </a:ext>
            </a:extLst>
          </p:cNvPr>
          <p:cNvSpPr/>
          <p:nvPr/>
        </p:nvSpPr>
        <p:spPr>
          <a:xfrm>
            <a:off x="4919514" y="8553450"/>
            <a:ext cx="36541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D8B7B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RELATRICE</a:t>
            </a:r>
            <a:endParaRPr lang="en-US" sz="18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183CE574-A2D4-DDE7-96CC-2212D1D60ECD}"/>
              </a:ext>
            </a:extLst>
          </p:cNvPr>
          <p:cNvSpPr/>
          <p:nvPr/>
        </p:nvSpPr>
        <p:spPr>
          <a:xfrm>
            <a:off x="4919514" y="8886825"/>
            <a:ext cx="36541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Prof.ssa Gaia Maselli</a:t>
            </a:r>
            <a:endParaRPr lang="en-US" sz="225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08CD2559-1EF7-DEC4-0A10-A386114AAA40}"/>
              </a:ext>
            </a:extLst>
          </p:cNvPr>
          <p:cNvSpPr/>
          <p:nvPr/>
        </p:nvSpPr>
        <p:spPr>
          <a:xfrm>
            <a:off x="4919514" y="9286875"/>
            <a:ext cx="36541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D3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Dipartimento di Informatica</a:t>
            </a:r>
            <a:endParaRPr lang="en-US" sz="18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0DDF8F8D-6115-779D-0EF6-D4BCCF1CC02F}"/>
              </a:ext>
            </a:extLst>
          </p:cNvPr>
          <p:cNvSpPr/>
          <p:nvPr/>
        </p:nvSpPr>
        <p:spPr>
          <a:xfrm>
            <a:off x="13396317" y="8953500"/>
            <a:ext cx="38439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E9D3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Corso di Laurea in Informatica</a:t>
            </a:r>
            <a:endParaRPr lang="en-US" sz="18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7ECF30C-2782-5560-E7D8-FF92A23808BC}"/>
              </a:ext>
            </a:extLst>
          </p:cNvPr>
          <p:cNvSpPr/>
          <p:nvPr/>
        </p:nvSpPr>
        <p:spPr>
          <a:xfrm>
            <a:off x="13396317" y="9286875"/>
            <a:ext cx="38439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E9D3D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Anno Accademico 2025/2026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77172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79675" y="280988"/>
            <a:ext cx="3356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Beacon Dissemination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489250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progetto ProSafe</a:t>
            </a:r>
            <a:endParaRPr lang="en-US" sz="4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81250"/>
            <a:ext cx="419100" cy="41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4950" y="2386013"/>
            <a:ext cx="267798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motivazione</a:t>
            </a:r>
            <a:endParaRPr lang="en-US" sz="2850" dirty="0"/>
          </a:p>
        </p:txBody>
      </p:sp>
      <p:sp>
        <p:nvSpPr>
          <p:cNvPr id="8" name="Shape 4"/>
          <p:cNvSpPr/>
          <p:nvPr/>
        </p:nvSpPr>
        <p:spPr>
          <a:xfrm>
            <a:off x="914400" y="3403600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1276350" y="3289300"/>
            <a:ext cx="8064437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Mezzi grandi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dotati di radar e AIS non riescono a rilevare efficacemente gli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utenti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presenti nei contesti marittimi: nuotatori, sub, kayaker, piccole imbarcazioni, ecc.</a:t>
            </a:r>
            <a:endParaRPr lang="en-US" sz="2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10879" r="10879"/>
          <a:stretch/>
        </p:blipFill>
        <p:spPr>
          <a:xfrm rot="5400000">
            <a:off x="2603927" y="2833263"/>
            <a:ext cx="4469548" cy="8077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410700" y="2305050"/>
            <a:ext cx="7962900" cy="7410450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7"/>
          <p:cNvSpPr/>
          <p:nvPr/>
        </p:nvSpPr>
        <p:spPr>
          <a:xfrm>
            <a:off x="9410700" y="2305050"/>
            <a:ext cx="79629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2743200"/>
            <a:ext cx="419100" cy="4191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20349" y="2747963"/>
            <a:ext cx="414820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soluzione</a:t>
            </a:r>
            <a:endParaRPr lang="en-US" sz="2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0" y="3448050"/>
            <a:ext cx="342900" cy="3429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363201" y="3409950"/>
            <a:ext cx="664845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 intelligenti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GPS e Wi-Fi (IEEE 802.11) che annunciano la propria posizione con trasmissioni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</a:t>
            </a:r>
            <a:endParaRPr lang="en-US" sz="22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800" y="4929188"/>
            <a:ext cx="342900" cy="3429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363200" y="4891088"/>
            <a:ext cx="68675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access point, nessuna connessione a Internet, nessun coordinatore centrale</a:t>
            </a:r>
            <a:endParaRPr lang="en-US" sz="22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9800" y="6024563"/>
            <a:ext cx="342900" cy="3429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363200" y="5986463"/>
            <a:ext cx="68675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imbarcazioni basta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ascoltare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allarme locale quando una boa è in portata</a:t>
            </a:r>
            <a:endParaRPr lang="en-US" sz="22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9800" y="7119938"/>
            <a:ext cx="342900" cy="3429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363200" y="7081838"/>
            <a:ext cx="627017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da poche decine di euro, </a:t>
            </a:r>
            <a:r>
              <a:rPr lang="en-US" sz="2250" b="1" dirty="0" err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raggio</a:t>
            </a: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trasmissione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circa un centinaio di metri in mare aperto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70384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79675" y="280988"/>
            <a:ext cx="3356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Beacon Dissemination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834991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Tecnologie attualmente esistenti</a:t>
            </a:r>
            <a:endParaRPr lang="en-US" sz="4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2075" y="2324100"/>
            <a:ext cx="1438275" cy="143827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72" r="-172"/>
          <a:stretch/>
        </p:blipFill>
        <p:spPr>
          <a:xfrm>
            <a:off x="695325" y="3905250"/>
            <a:ext cx="2771775" cy="138112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l="-272" r="-272"/>
          <a:stretch/>
        </p:blipFill>
        <p:spPr>
          <a:xfrm>
            <a:off x="1581150" y="5400675"/>
            <a:ext cx="1009650" cy="159067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3629025" y="2324100"/>
            <a:ext cx="14363700" cy="1352550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4"/>
          <p:cNvSpPr/>
          <p:nvPr/>
        </p:nvSpPr>
        <p:spPr>
          <a:xfrm>
            <a:off x="4095750" y="2838450"/>
            <a:ext cx="5238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</a:t>
            </a:r>
            <a:endParaRPr lang="en-US" sz="2250" dirty="0"/>
          </a:p>
        </p:txBody>
      </p:sp>
      <p:sp>
        <p:nvSpPr>
          <p:cNvPr id="11" name="Text 5"/>
          <p:cNvSpPr/>
          <p:nvPr/>
        </p:nvSpPr>
        <p:spPr>
          <a:xfrm>
            <a:off x="8858250" y="2690813"/>
            <a:ext cx="423005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Transponder VHF imposto alle navi di grande stazza</a:t>
            </a:r>
            <a:endParaRPr lang="en-US" sz="1875" dirty="0"/>
          </a:p>
        </p:txBody>
      </p:sp>
      <p:sp>
        <p:nvSpPr>
          <p:cNvPr id="12" name="Text 6"/>
          <p:cNvSpPr/>
          <p:nvPr/>
        </p:nvSpPr>
        <p:spPr>
          <a:xfrm>
            <a:off x="13335000" y="2690813"/>
            <a:ext cx="393573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Costoso, energivoro, non pensato per i piccoli utenti</a:t>
            </a:r>
            <a:endParaRPr lang="en-US" sz="1875" dirty="0"/>
          </a:p>
        </p:txBody>
      </p:sp>
      <p:sp>
        <p:nvSpPr>
          <p:cNvPr id="13" name="Shape 7"/>
          <p:cNvSpPr/>
          <p:nvPr/>
        </p:nvSpPr>
        <p:spPr>
          <a:xfrm>
            <a:off x="3629025" y="3924300"/>
            <a:ext cx="14363700" cy="1352550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/>
          <p:nvPr/>
        </p:nvSpPr>
        <p:spPr>
          <a:xfrm>
            <a:off x="4095750" y="4438650"/>
            <a:ext cx="5238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Beacon EPIRB / PLB</a:t>
            </a:r>
            <a:endParaRPr lang="en-US" sz="2250" dirty="0"/>
          </a:p>
        </p:txBody>
      </p:sp>
      <p:sp>
        <p:nvSpPr>
          <p:cNvPr id="15" name="Text 9"/>
          <p:cNvSpPr/>
          <p:nvPr/>
        </p:nvSpPr>
        <p:spPr>
          <a:xfrm>
            <a:off x="8858250" y="4291013"/>
            <a:ext cx="423005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Trasmissione satellitare Cospas–Sarsat solo ad attivazione</a:t>
            </a:r>
            <a:endParaRPr lang="en-US" sz="1875" dirty="0"/>
          </a:p>
        </p:txBody>
      </p:sp>
      <p:sp>
        <p:nvSpPr>
          <p:cNvPr id="16" name="Text 10"/>
          <p:cNvSpPr/>
          <p:nvPr/>
        </p:nvSpPr>
        <p:spPr>
          <a:xfrm>
            <a:off x="13335000" y="4291013"/>
            <a:ext cx="393573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Ritardi di minuti, allerta ai soccorsi e non ai mezzi vicini</a:t>
            </a:r>
            <a:endParaRPr lang="en-US" sz="1875" dirty="0"/>
          </a:p>
        </p:txBody>
      </p:sp>
      <p:sp>
        <p:nvSpPr>
          <p:cNvPr id="17" name="Shape 11"/>
          <p:cNvSpPr/>
          <p:nvPr/>
        </p:nvSpPr>
        <p:spPr>
          <a:xfrm>
            <a:off x="3629025" y="5524500"/>
            <a:ext cx="14363700" cy="1352550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2"/>
          <p:cNvSpPr/>
          <p:nvPr/>
        </p:nvSpPr>
        <p:spPr>
          <a:xfrm>
            <a:off x="4095750" y="6038850"/>
            <a:ext cx="5238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per smartphone</a:t>
            </a:r>
            <a:endParaRPr lang="en-US" sz="2250" dirty="0"/>
          </a:p>
        </p:txBody>
      </p:sp>
      <p:sp>
        <p:nvSpPr>
          <p:cNvPr id="19" name="Text 13"/>
          <p:cNvSpPr/>
          <p:nvPr/>
        </p:nvSpPr>
        <p:spPr>
          <a:xfrm>
            <a:off x="8858250" y="5891213"/>
            <a:ext cx="423005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Tracciamento della posizione tramite rete cellulare</a:t>
            </a:r>
            <a:endParaRPr lang="en-US" sz="1875" dirty="0"/>
          </a:p>
        </p:txBody>
      </p:sp>
      <p:sp>
        <p:nvSpPr>
          <p:cNvPr id="20" name="Text 14"/>
          <p:cNvSpPr/>
          <p:nvPr/>
        </p:nvSpPr>
        <p:spPr>
          <a:xfrm>
            <a:off x="13335000" y="5891213"/>
            <a:ext cx="393573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Copertura inaffidabile al largo, richiede infrastruttura</a:t>
            </a:r>
            <a:endParaRPr lang="en-US" sz="1875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8143875"/>
            <a:ext cx="495300" cy="495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38301" y="8105775"/>
            <a:ext cx="150876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tecnologia offre rilevazione continua a corto raggio senza infrastruttura: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il problema che ProSafe mira a risolvere operando esclusivamente a livello MAC.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52517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79675" y="280988"/>
            <a:ext cx="33562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it-IT" sz="180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Beacon Dissemination</a:t>
            </a:r>
            <a:endParaRPr lang="it-IT" sz="180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795798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42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 del singolo hop</a:t>
            </a:r>
            <a:endParaRPr lang="it-IT" sz="4200"/>
          </a:p>
        </p:txBody>
      </p:sp>
      <p:sp>
        <p:nvSpPr>
          <p:cNvPr id="6" name="Shape 3"/>
          <p:cNvSpPr/>
          <p:nvPr/>
        </p:nvSpPr>
        <p:spPr>
          <a:xfrm>
            <a:off x="914400" y="3438525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276350" y="3324225"/>
            <a:ext cx="9213979" cy="1292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it-IT" sz="2250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Ad ogni beacon ricevuto vengono scoperti potenziali nuovi nodi, ma solo le informazioni sul mittente vengono memorizzate; la conoscenza propagata si limita ai soli vicini diretti fino a </a:t>
            </a:r>
            <a:r>
              <a:rPr lang="en-US" sz="2250" b="1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~120m 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(portata massima)</a:t>
            </a:r>
            <a:endParaRPr lang="it-IT" sz="2250">
              <a:solidFill>
                <a:srgbClr val="1C1C1E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14400" y="4959350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276350" y="4845050"/>
            <a:ext cx="921397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Un'imbarcazione ha interesse nello </a:t>
            </a:r>
            <a:r>
              <a:rPr lang="it-IT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scoprire più nodi possibili</a:t>
            </a: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compresi quelli schermati o lontani</a:t>
            </a:r>
            <a:endParaRPr lang="it-IT" sz="2250"/>
          </a:p>
        </p:txBody>
      </p:sp>
      <p:sp>
        <p:nvSpPr>
          <p:cNvPr id="10" name="Shape 7"/>
          <p:cNvSpPr/>
          <p:nvPr/>
        </p:nvSpPr>
        <p:spPr>
          <a:xfrm>
            <a:off x="914400" y="6149975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276350" y="6035675"/>
            <a:ext cx="973226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broadcast Wi-Fi </a:t>
            </a:r>
            <a:r>
              <a:rPr lang="it-IT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ha ACK</a:t>
            </a: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le collisioni sono silenziose, e un beacon perso potrebbe essere una </a:t>
            </a:r>
            <a:r>
              <a:rPr lang="it-IT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non rilevata</a:t>
            </a:r>
            <a:endParaRPr lang="it-IT" sz="2250"/>
          </a:p>
        </p:txBody>
      </p:sp>
      <p:sp>
        <p:nvSpPr>
          <p:cNvPr id="12" name="Shape 9"/>
          <p:cNvSpPr/>
          <p:nvPr/>
        </p:nvSpPr>
        <p:spPr>
          <a:xfrm>
            <a:off x="914400" y="7340600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276350" y="7226300"/>
            <a:ext cx="903922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modalità di inoltro multi-hop progettate mirano a </a:t>
            </a:r>
            <a:r>
              <a:rPr lang="it-IT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estendere la conoscenza </a:t>
            </a: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oltre i vicini diretti</a:t>
            </a:r>
            <a:endParaRPr lang="it-IT" sz="2250"/>
          </a:p>
        </p:txBody>
      </p:sp>
      <p:sp>
        <p:nvSpPr>
          <p:cNvPr id="14" name="Text 11"/>
          <p:cNvSpPr/>
          <p:nvPr/>
        </p:nvSpPr>
        <p:spPr>
          <a:xfrm>
            <a:off x="11087100" y="2381250"/>
            <a:ext cx="76066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800" kern="0" spc="18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PAYLOAD DEL BEACON</a:t>
            </a:r>
            <a:endParaRPr lang="it-IT" sz="1800"/>
          </a:p>
        </p:txBody>
      </p:sp>
      <p:sp>
        <p:nvSpPr>
          <p:cNvPr id="15" name="Shape 12"/>
          <p:cNvSpPr/>
          <p:nvPr/>
        </p:nvSpPr>
        <p:spPr>
          <a:xfrm>
            <a:off x="11087100" y="2905125"/>
            <a:ext cx="6286500" cy="7239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2850" y="3095625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906250" y="3128963"/>
            <a:ext cx="50229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8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 · posizione · timestamp</a:t>
            </a:r>
            <a:endParaRPr lang="it-IT" sz="1875"/>
          </a:p>
        </p:txBody>
      </p:sp>
      <p:sp>
        <p:nvSpPr>
          <p:cNvPr id="18" name="Text 14"/>
          <p:cNvSpPr/>
          <p:nvPr/>
        </p:nvSpPr>
        <p:spPr>
          <a:xfrm>
            <a:off x="16663095" y="3119438"/>
            <a:ext cx="9010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8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B</a:t>
            </a:r>
            <a:endParaRPr lang="it-IT" sz="1875"/>
          </a:p>
        </p:txBody>
      </p:sp>
      <p:sp>
        <p:nvSpPr>
          <p:cNvPr id="19" name="Shape 15"/>
          <p:cNvSpPr/>
          <p:nvPr/>
        </p:nvSpPr>
        <p:spPr>
          <a:xfrm>
            <a:off x="11087100" y="3781425"/>
            <a:ext cx="6286500" cy="723900"/>
          </a:xfrm>
          <a:prstGeom prst="rect">
            <a:avLst/>
          </a:prstGeom>
          <a:solidFill>
            <a:srgbClr val="A35260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2850" y="3971925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906250" y="4005262"/>
            <a:ext cx="42517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8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dei nodi conosciuti</a:t>
            </a:r>
            <a:endParaRPr lang="it-IT" sz="1875"/>
          </a:p>
        </p:txBody>
      </p:sp>
      <p:sp>
        <p:nvSpPr>
          <p:cNvPr id="22" name="Text 17"/>
          <p:cNvSpPr/>
          <p:nvPr/>
        </p:nvSpPr>
        <p:spPr>
          <a:xfrm>
            <a:off x="15961965" y="3995738"/>
            <a:ext cx="14901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8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B / nodo</a:t>
            </a:r>
            <a:endParaRPr lang="it-IT" sz="1875"/>
          </a:p>
        </p:txBody>
      </p:sp>
      <p:sp>
        <p:nvSpPr>
          <p:cNvPr id="23" name="Shape 18"/>
          <p:cNvSpPr/>
          <p:nvPr/>
        </p:nvSpPr>
        <p:spPr>
          <a:xfrm>
            <a:off x="11087100" y="4657725"/>
            <a:ext cx="6286500" cy="723900"/>
          </a:xfrm>
          <a:prstGeom prst="rect">
            <a:avLst/>
          </a:prstGeom>
          <a:solidFill>
            <a:srgbClr val="C4939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2850" y="4848225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906250" y="4881563"/>
            <a:ext cx="50229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8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id + hop limit</a:t>
            </a:r>
            <a:endParaRPr lang="it-IT" sz="1875"/>
          </a:p>
        </p:txBody>
      </p:sp>
      <p:sp>
        <p:nvSpPr>
          <p:cNvPr id="26" name="Text 20"/>
          <p:cNvSpPr/>
          <p:nvPr/>
        </p:nvSpPr>
        <p:spPr>
          <a:xfrm>
            <a:off x="16663095" y="4872038"/>
            <a:ext cx="7105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8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</a:t>
            </a:r>
            <a:endParaRPr lang="it-IT" sz="1875"/>
          </a:p>
        </p:txBody>
      </p:sp>
      <p:sp>
        <p:nvSpPr>
          <p:cNvPr id="27" name="Text 21"/>
          <p:cNvSpPr/>
          <p:nvPr/>
        </p:nvSpPr>
        <p:spPr>
          <a:xfrm>
            <a:off x="10772775" y="5705475"/>
            <a:ext cx="69151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it-IT" sz="2400" i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it-IT" sz="24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it-IT" sz="2400" i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it-IT" sz="24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28 + 28·</a:t>
            </a:r>
            <a:r>
              <a:rPr lang="it-IT" sz="2400" i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</a:t>
            </a:r>
            <a:r>
              <a:rPr lang="it-IT" sz="24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</a:t>
            </a:r>
            <a:endParaRPr lang="it-IT" sz="2400"/>
          </a:p>
        </p:txBody>
      </p:sp>
      <p:sp>
        <p:nvSpPr>
          <p:cNvPr id="28" name="Text 22"/>
          <p:cNvSpPr/>
          <p:nvPr/>
        </p:nvSpPr>
        <p:spPr>
          <a:xfrm>
            <a:off x="10772775" y="6172200"/>
            <a:ext cx="6915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it-IT" sz="180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dimensione cresce con i k nodi annunciati</a:t>
            </a:r>
            <a:endParaRPr lang="it-IT" sz="1800"/>
          </a:p>
        </p:txBody>
      </p:sp>
    </p:spTree>
    <p:extLst>
      <p:ext uri="{BB962C8B-B14F-4D97-AF65-F5344CB8AC3E}">
        <p14:creationId xmlns:p14="http://schemas.microsoft.com/office/powerpoint/2010/main" val="3921128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20777" y="280988"/>
            <a:ext cx="1771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 di tesi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9474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 · Forwarding singolo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266950"/>
            <a:ext cx="91154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465"/>
              </a:lnSpc>
              <a:buNone/>
            </a:pPr>
            <a:r>
              <a:rPr lang="en-US" sz="28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beacon ricevuto viene ritrasmesso</a:t>
            </a:r>
            <a:endParaRPr lang="en-US" sz="2850" dirty="0"/>
          </a:p>
        </p:txBody>
      </p:sp>
      <p:sp>
        <p:nvSpPr>
          <p:cNvPr id="7" name="Shape 4"/>
          <p:cNvSpPr/>
          <p:nvPr/>
        </p:nvSpPr>
        <p:spPr>
          <a:xfrm>
            <a:off x="914400" y="3238500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276350" y="3124200"/>
            <a:ext cx="6902451" cy="53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beacon trasporta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id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limit ℓ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(TTL)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14400" y="4005262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276350" y="3890962"/>
            <a:ext cx="70548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Origine, timestamp e payload </a:t>
            </a: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restano invariati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il nuovo mittente </a:t>
            </a: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il nodo che inoltra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914400" y="5043488"/>
            <a:ext cx="132845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276351" y="4929188"/>
            <a:ext cx="69024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Estende la portata della conoscenza, ma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moltiplica le trasmissioni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contesa</a:t>
            </a:r>
            <a:endParaRPr lang="en-US" sz="22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67" r="-67"/>
          <a:stretch/>
        </p:blipFill>
        <p:spPr>
          <a:xfrm>
            <a:off x="1246187" y="6345237"/>
            <a:ext cx="7115175" cy="35528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410700" y="2305050"/>
            <a:ext cx="87591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CONTENIMENTO DEL BROADCAST STORM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9410700" y="2771775"/>
            <a:ext cx="7962900" cy="1765697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9410700" y="2771775"/>
            <a:ext cx="79629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700" y="3133725"/>
            <a:ext cx="323850" cy="3238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67950" y="3133725"/>
            <a:ext cx="29654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25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Unicità dell'origine</a:t>
            </a:r>
            <a:endParaRPr lang="it-IT" sz="2250"/>
          </a:p>
        </p:txBody>
      </p:sp>
      <p:sp>
        <p:nvSpPr>
          <p:cNvPr id="19" name="Text 14"/>
          <p:cNvSpPr/>
          <p:nvPr/>
        </p:nvSpPr>
        <p:spPr>
          <a:xfrm>
            <a:off x="9791700" y="3571875"/>
            <a:ext cx="7219950" cy="717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it-IT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inoltra solo se più recente dell'ultimo già inoltrato per quell'origine (t &gt; τ</a:t>
            </a:r>
            <a:r>
              <a:rPr lang="it-IT" sz="1875" baseline="-250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it-IT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al fine di evitare duplicati e cicli</a:t>
            </a:r>
            <a:endParaRPr lang="it-IT" sz="1875"/>
          </a:p>
        </p:txBody>
      </p:sp>
      <p:sp>
        <p:nvSpPr>
          <p:cNvPr id="20" name="Shape 15"/>
          <p:cNvSpPr/>
          <p:nvPr/>
        </p:nvSpPr>
        <p:spPr>
          <a:xfrm>
            <a:off x="9410700" y="4766072"/>
            <a:ext cx="7962900" cy="1728788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9410700" y="4766072"/>
            <a:ext cx="79629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1700" y="5128022"/>
            <a:ext cx="323850" cy="3238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67950" y="5128022"/>
            <a:ext cx="2432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25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del TTL</a:t>
            </a:r>
            <a:endParaRPr lang="it-IT" sz="2250"/>
          </a:p>
        </p:txBody>
      </p:sp>
      <p:sp>
        <p:nvSpPr>
          <p:cNvPr id="24" name="Text 18"/>
          <p:cNvSpPr/>
          <p:nvPr/>
        </p:nvSpPr>
        <p:spPr>
          <a:xfrm>
            <a:off x="9791700" y="5566172"/>
            <a:ext cx="764257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it-IT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ogni inoltro il Time To Live viene decrementato, quando si azzera viene scartato</a:t>
            </a:r>
            <a:endParaRPr lang="it-IT" sz="1875"/>
          </a:p>
        </p:txBody>
      </p:sp>
      <p:sp>
        <p:nvSpPr>
          <p:cNvPr id="25" name="Shape 19"/>
          <p:cNvSpPr/>
          <p:nvPr/>
        </p:nvSpPr>
        <p:spPr>
          <a:xfrm>
            <a:off x="9410700" y="6723458"/>
            <a:ext cx="7962900" cy="2086713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410700" y="6723459"/>
            <a:ext cx="79629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1700" y="7085409"/>
            <a:ext cx="323850" cy="3238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267950" y="7085409"/>
            <a:ext cx="2432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Coda limitata</a:t>
            </a:r>
            <a:endParaRPr lang="en-US" sz="2250" dirty="0"/>
          </a:p>
        </p:txBody>
      </p:sp>
      <p:sp>
        <p:nvSpPr>
          <p:cNvPr id="29" name="Text 22"/>
          <p:cNvSpPr/>
          <p:nvPr/>
        </p:nvSpPr>
        <p:spPr>
          <a:xfrm>
            <a:off x="9791700" y="7485458"/>
            <a:ext cx="7219950" cy="1048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Alla ricezione viene memorizzata al pi</a:t>
            </a:r>
            <a:r>
              <a:rPr lang="it-IT" sz="1875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ù una copia per origine, la si sostituisce se ne arriva una creata più recentemente; quando la coda è piena viene scartato</a:t>
            </a:r>
            <a:endParaRPr lang="en-US" sz="1875" dirty="0">
              <a:solidFill>
                <a:srgbClr val="1C1C1E"/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595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20777" y="280988"/>
            <a:ext cx="1771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 di tesi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896906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 · Forwarding aggregato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266950"/>
            <a:ext cx="7905751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465"/>
              </a:lnSpc>
              <a:buNone/>
            </a:pPr>
            <a:r>
              <a:rPr lang="en-US" sz="28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beacon annuncia tutta la conoscenza </a:t>
            </a:r>
            <a:r>
              <a:rPr lang="en-US" sz="28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della boa in un unico pacchetto</a:t>
            </a:r>
            <a:endParaRPr lang="en-US" sz="2850" dirty="0"/>
          </a:p>
        </p:txBody>
      </p:sp>
      <p:sp>
        <p:nvSpPr>
          <p:cNvPr id="7" name="Shape 4"/>
          <p:cNvSpPr/>
          <p:nvPr/>
        </p:nvSpPr>
        <p:spPr>
          <a:xfrm>
            <a:off x="914400" y="3416300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276349" y="3301999"/>
            <a:ext cx="7118351" cy="1357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beacon viene allegata la lista di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tutti i </a:t>
            </a: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nodi appresi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vicini 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diretti + nodi scoperti indirettamente,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ognuno con posizione, timestamp e distanza in hop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914400" y="4821238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276350" y="4706938"/>
            <a:ext cx="7543801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Trasmissione unica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il costo in airtime cresce con l'estensione del frame: +28B per nodo annunciato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914400" y="5807075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276350" y="5692776"/>
            <a:ext cx="7702550" cy="952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it-IT" sz="2250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La scoperta si propaga di </a:t>
            </a:r>
            <a:r>
              <a:rPr lang="it-IT" sz="2250" b="1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beacon in beacon</a:t>
            </a:r>
            <a:r>
              <a:rPr lang="it-IT" sz="2250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, aggregando ad ogni inoltro la conoscenza accumulata</a:t>
            </a:r>
            <a:endParaRPr lang="en-US" sz="2250" dirty="0">
              <a:solidFill>
                <a:srgbClr val="1C1C1E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410700" y="2305050"/>
            <a:ext cx="87591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INTEGRAZIONE </a:t>
            </a:r>
            <a:r>
              <a:rPr lang="en-US" sz="1800" kern="0" spc="18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DELLA LISTA DEI NODI </a:t>
            </a:r>
            <a:r>
              <a:rPr lang="en-US" sz="1800" kern="0" spc="180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 RICEZIONE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9410700" y="2771774"/>
            <a:ext cx="7962900" cy="2049463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9410700" y="2771775"/>
            <a:ext cx="79629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822433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1700" y="3133725"/>
            <a:ext cx="323850" cy="3238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67950" y="3133725"/>
            <a:ext cx="2774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Insiemi disgiunti</a:t>
            </a:r>
            <a:endParaRPr lang="en-US" sz="2250" dirty="0"/>
          </a:p>
        </p:txBody>
      </p:sp>
      <p:sp>
        <p:nvSpPr>
          <p:cNvPr id="19" name="Text 14"/>
          <p:cNvSpPr/>
          <p:nvPr/>
        </p:nvSpPr>
        <p:spPr>
          <a:xfrm>
            <a:off x="9791700" y="3571875"/>
            <a:ext cx="7436757" cy="1357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Le liste dei vicini diretti e dei nodi scoperti non si intersecano: i nodi annunciati che coincidono con i diretti vengono ignorati e se il mittente è tra quelli scoperti, viene spostato nei diretti</a:t>
            </a:r>
            <a:endParaRPr lang="en-US" sz="1875" dirty="0"/>
          </a:p>
        </p:txBody>
      </p:sp>
      <p:sp>
        <p:nvSpPr>
          <p:cNvPr id="20" name="Shape 15"/>
          <p:cNvSpPr/>
          <p:nvPr/>
        </p:nvSpPr>
        <p:spPr>
          <a:xfrm>
            <a:off x="9391811" y="5072060"/>
            <a:ext cx="7962900" cy="1728788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9391811" y="5072060"/>
            <a:ext cx="79629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2811" y="5434010"/>
            <a:ext cx="323850" cy="3238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9061" y="5434010"/>
            <a:ext cx="20182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Distanza h + 1</a:t>
            </a:r>
            <a:endParaRPr lang="en-US" sz="2250" dirty="0"/>
          </a:p>
        </p:txBody>
      </p:sp>
      <p:sp>
        <p:nvSpPr>
          <p:cNvPr id="24" name="Text 18"/>
          <p:cNvSpPr/>
          <p:nvPr/>
        </p:nvSpPr>
        <p:spPr>
          <a:xfrm>
            <a:off x="9772811" y="5872160"/>
            <a:ext cx="764257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Il numero di hop di ogni nodo annunciato viene incrementato: dista un hop in pi</a:t>
            </a:r>
            <a:r>
              <a:rPr lang="it-IT" sz="1875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ù rispetto a chi riceve</a:t>
            </a:r>
            <a:endParaRPr lang="en-US" sz="1875" dirty="0"/>
          </a:p>
        </p:txBody>
      </p:sp>
      <p:sp>
        <p:nvSpPr>
          <p:cNvPr id="25" name="Shape 19"/>
          <p:cNvSpPr/>
          <p:nvPr/>
        </p:nvSpPr>
        <p:spPr>
          <a:xfrm>
            <a:off x="9410700" y="7054849"/>
            <a:ext cx="7962900" cy="1778347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410700" y="7054849"/>
            <a:ext cx="79629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1700" y="7416799"/>
            <a:ext cx="323850" cy="3238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267950" y="7416799"/>
            <a:ext cx="26036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225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la più recente</a:t>
            </a:r>
            <a:endParaRPr lang="it-IT" sz="2250"/>
          </a:p>
        </p:txBody>
      </p:sp>
      <p:sp>
        <p:nvSpPr>
          <p:cNvPr id="29" name="Text 22"/>
          <p:cNvSpPr/>
          <p:nvPr/>
        </p:nvSpPr>
        <p:spPr>
          <a:xfrm>
            <a:off x="9791700" y="7854949"/>
            <a:ext cx="7642574" cy="730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it-IT" sz="1875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Vengono tenute in memoria solo le informazioni più recenti rispetto a quelle possedute per ogni nodo annunciato (t &gt; t</a:t>
            </a:r>
            <a:r>
              <a:rPr lang="it-IT" sz="1875" baseline="-25000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mem</a:t>
            </a:r>
            <a:r>
              <a:rPr lang="it-IT" sz="1875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)</a:t>
            </a: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6D2B8DBC-3774-3B35-1EE0-00890C3835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1897" y="6645085"/>
            <a:ext cx="6607254" cy="350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62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8832" y="280988"/>
            <a:ext cx="29171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Valutazione delle prestazioni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316289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simulatore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3105150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276350" y="2990850"/>
            <a:ext cx="610228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Simulatore basato su architettura a </a:t>
            </a: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eventi discreti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scritto in Python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914400" y="4314825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276350" y="4200525"/>
            <a:ext cx="544731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Esecuzione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deterministica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parità di seed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914400" y="5138738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276350" y="5024438"/>
            <a:ext cx="6102287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Componenti modulari collegate 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</a:t>
            </a: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Simulator, Buoy, Channel, Metrics, BeaconScheduler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914400" y="6734175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276350" y="6619875"/>
            <a:ext cx="610228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 file di configurazione, parametri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secondo misure sul campo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914400" y="7943850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276350" y="7829550"/>
            <a:ext cx="610228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Modalità multihop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senza alterare le componenti preesistenti</a:t>
            </a:r>
            <a:endParaRPr lang="en-US" sz="22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7505699" y="1961067"/>
            <a:ext cx="10590297" cy="80449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8832" y="280988"/>
            <a:ext cx="29171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Valutazione delle prestazioni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939078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di trasmissione (CSMA/CA)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3648075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276350" y="3533775"/>
            <a:ext cx="112839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Contesa DCF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canale → </a:t>
            </a: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DIFS time →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 casuale → trasmissione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senza RTS/CTS né ACK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914400" y="4838700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276350" y="4724400"/>
            <a:ext cx="1218495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punti d'ingresso: la decisione periodica dello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(SBP, ADAB, ACAB) e l'accodamento di 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pacchetto da inoltrare 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ricezione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914400" y="6029325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276350" y="5915025"/>
            <a:ext cx="735389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di contesa 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garantisce al più una pipeline per boa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914400" y="6834188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276350" y="6719888"/>
            <a:ext cx="1218495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ogni contesa vinta parte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frame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precedenza ai beacon propri; con inoltri in coda si rientra subito in contesa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914400" y="8024812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276350" y="7910512"/>
            <a:ext cx="124301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canale modella propagazione, collisioni dirette e da </a:t>
            </a: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terminale nascosto</a:t>
            </a:r>
            <a:r>
              <a:rPr lang="en-US" sz="22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perdite probabilistiche</a:t>
            </a:r>
            <a:endParaRPr lang="en-US" sz="22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2580" r="-2580"/>
          <a:stretch/>
        </p:blipFill>
        <p:spPr>
          <a:xfrm>
            <a:off x="13706475" y="1069943"/>
            <a:ext cx="4102554" cy="904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89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8832" y="280988"/>
            <a:ext cx="29171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Valutazione delle prestazioni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587034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 di simulazione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2992438"/>
            <a:ext cx="5257800" cy="6000750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914400" y="2992438"/>
            <a:ext cx="52578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50" y="3373438"/>
            <a:ext cx="361950" cy="3619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90700" y="3378201"/>
            <a:ext cx="266488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Densità e mobilità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276350" y="3963988"/>
            <a:ext cx="507111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600 × 600 m, 200 s tempo simulato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1276350" y="4533107"/>
            <a:ext cx="474840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Densità da </a:t>
            </a:r>
            <a:r>
              <a:rPr lang="en-US" sz="1875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 100 boe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(~1.7 → ~9 vicini medi)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1276350" y="5423694"/>
            <a:ext cx="474840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di </a:t>
            </a:r>
            <a:r>
              <a:rPr lang="en-US" sz="1875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 mobili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secondo Random Waypoint Model (v = 5–20 m/s; p = 0–10 s)</a:t>
            </a:r>
            <a:endParaRPr lang="en-US" sz="1875" dirty="0"/>
          </a:p>
        </p:txBody>
      </p:sp>
      <p:sp>
        <p:nvSpPr>
          <p:cNvPr id="13" name="Text 9"/>
          <p:cNvSpPr/>
          <p:nvPr/>
        </p:nvSpPr>
        <p:spPr>
          <a:xfrm>
            <a:off x="1276350" y="7050882"/>
            <a:ext cx="4748403" cy="1182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</a:t>
            </a:r>
            <a:r>
              <a:rPr lang="en-US" sz="1875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nodi che entrano ed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escono dall’area di simulazione di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 (fino a ±30% della popolazione)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6515100" y="2992438"/>
            <a:ext cx="5257800" cy="6000750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6515100" y="2992438"/>
            <a:ext cx="52578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050" y="3373438"/>
            <a:ext cx="361950" cy="3619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91401" y="3373438"/>
            <a:ext cx="3657602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35"/>
              </a:lnSpc>
              <a:buNone/>
            </a:pPr>
            <a:r>
              <a:rPr lang="en-US" sz="24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Protocolli </a:t>
            </a:r>
            <a:r>
              <a:rPr lang="en-US" sz="24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scheduling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877050" y="4272360"/>
            <a:ext cx="507111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intervallo fisso (1.0 / 0.5 / 0.25 s)</a:t>
            </a:r>
            <a:endParaRPr lang="en-US" sz="1875" dirty="0"/>
          </a:p>
        </p:txBody>
      </p:sp>
      <p:sp>
        <p:nvSpPr>
          <p:cNvPr id="19" name="Text 14"/>
          <p:cNvSpPr/>
          <p:nvPr/>
        </p:nvSpPr>
        <p:spPr>
          <a:xfrm>
            <a:off x="6877050" y="4841479"/>
            <a:ext cx="4362450" cy="903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adattivo in funzione della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densità dei vicini</a:t>
            </a:r>
            <a:endParaRPr lang="en-US" sz="1875" dirty="0"/>
          </a:p>
        </p:txBody>
      </p:sp>
      <p:sp>
        <p:nvSpPr>
          <p:cNvPr id="20" name="Text 15"/>
          <p:cNvSpPr/>
          <p:nvPr/>
        </p:nvSpPr>
        <p:spPr>
          <a:xfrm>
            <a:off x="6877050" y="5702697"/>
            <a:ext cx="474840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context-aware: densità + contatto recente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mobilità</a:t>
            </a:r>
            <a:endParaRPr lang="en-US" sz="1875" dirty="0"/>
          </a:p>
        </p:txBody>
      </p:sp>
      <p:sp>
        <p:nvSpPr>
          <p:cNvPr id="21" name="Text 16"/>
          <p:cNvSpPr/>
          <p:nvPr/>
        </p:nvSpPr>
        <p:spPr>
          <a:xfrm>
            <a:off x="6877050" y="7051279"/>
            <a:ext cx="474840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protocollo combinato con ogni modalità di inoltro</a:t>
            </a:r>
            <a:endParaRPr lang="en-US" sz="1875" dirty="0"/>
          </a:p>
        </p:txBody>
      </p:sp>
      <p:sp>
        <p:nvSpPr>
          <p:cNvPr id="22" name="Shape 17"/>
          <p:cNvSpPr/>
          <p:nvPr/>
        </p:nvSpPr>
        <p:spPr>
          <a:xfrm>
            <a:off x="12115800" y="2992438"/>
            <a:ext cx="5257800" cy="6000750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12115800" y="2992438"/>
            <a:ext cx="52578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7750" y="3373438"/>
            <a:ext cx="361950" cy="3619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992100" y="3378201"/>
            <a:ext cx="10420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12477750" y="3963988"/>
            <a:ext cx="474840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Ideale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non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verificano errori dovuti al canale,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collisioni</a:t>
            </a:r>
            <a:endParaRPr lang="en-US" sz="1875" dirty="0"/>
          </a:p>
        </p:txBody>
      </p:sp>
      <p:sp>
        <p:nvSpPr>
          <p:cNvPr id="27" name="Text 21"/>
          <p:cNvSpPr/>
          <p:nvPr/>
        </p:nvSpPr>
        <p:spPr>
          <a:xfrm>
            <a:off x="12477751" y="4854575"/>
            <a:ext cx="4748402" cy="1323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</a:t>
            </a:r>
            <a:r>
              <a:rPr lang="en-US" sz="1875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ideale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consegna con successo probabilistica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90% entro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m, P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15% fino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m; misure ricavate da esperimenti sul campo</a:t>
            </a:r>
            <a:endParaRPr lang="en-US" sz="1875" dirty="0"/>
          </a:p>
        </p:txBody>
      </p:sp>
      <p:sp>
        <p:nvSpPr>
          <p:cNvPr id="28" name="Text 22"/>
          <p:cNvSpPr/>
          <p:nvPr/>
        </p:nvSpPr>
        <p:spPr>
          <a:xfrm>
            <a:off x="12316396" y="7054453"/>
            <a:ext cx="474840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Prestazioni valutate su entrambi i tipi di canale</a:t>
            </a:r>
            <a:endParaRPr lang="en-US" sz="1875" dirty="0">
              <a:solidFill>
                <a:srgbClr val="1C1C1E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8991600"/>
            <a:ext cx="419100" cy="4191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057400" y="9024938"/>
            <a:ext cx="1297589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canali × 3 intervalli × </a:t>
            </a:r>
            <a:r>
              <a:rPr lang="en-US" sz="22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modalità di inoltro 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configurazioni 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30 repliche indipendenti =</a:t>
            </a:r>
            <a:endParaRPr lang="en-US" sz="2250" dirty="0"/>
          </a:p>
        </p:txBody>
      </p:sp>
      <p:sp>
        <p:nvSpPr>
          <p:cNvPr id="32" name="Text 25"/>
          <p:cNvSpPr/>
          <p:nvPr/>
        </p:nvSpPr>
        <p:spPr>
          <a:xfrm>
            <a:off x="13941093" y="8963025"/>
            <a:ext cx="307563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 esecuzioni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1906862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8832" y="280988"/>
            <a:ext cx="29171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Valutazione delle prestazioni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257300"/>
            <a:ext cx="978549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Topologia della rete e scala di densità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2247900"/>
            <a:ext cx="12268200" cy="5962650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2" b="-42"/>
          <a:stretch/>
        </p:blipFill>
        <p:spPr>
          <a:xfrm>
            <a:off x="1143000" y="2457450"/>
            <a:ext cx="11811000" cy="52292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4000" y="7762875"/>
            <a:ext cx="29214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Topologia minima — </a:t>
            </a:r>
            <a:r>
              <a:rPr lang="en-US" sz="18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boe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674126" y="7762875"/>
            <a:ext cx="31887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Topologia massima — </a:t>
            </a:r>
            <a:r>
              <a:rPr lang="en-US" sz="18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boe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3716000" y="2276475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4039851" y="2190750"/>
            <a:ext cx="310515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9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 disposte casualmente nel piano </a:t>
            </a:r>
            <a:r>
              <a:rPr lang="en-US" sz="19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× 600 m</a:t>
            </a:r>
            <a:r>
              <a:rPr lang="en-US" sz="19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70% </a:t>
            </a:r>
            <a:r>
              <a:rPr lang="en-US" sz="19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fisse </a:t>
            </a:r>
            <a:r>
              <a:rPr lang="en-US" sz="19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30% </a:t>
            </a:r>
            <a:r>
              <a:rPr lang="en-US" sz="1950" b="1" dirty="0">
                <a:solidFill>
                  <a:srgbClr val="E0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13716000" y="3488829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14039850" y="3403104"/>
            <a:ext cx="3433763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9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densità della topologia </a:t>
            </a:r>
            <a:r>
              <a:rPr lang="en-US" sz="19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nel corso </a:t>
            </a:r>
            <a:r>
              <a:rPr lang="en-US" sz="19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della simulazione</a:t>
            </a:r>
            <a:r>
              <a:rPr lang="en-US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95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boe mobili si spostano e la popolazione </a:t>
            </a:r>
            <a:r>
              <a:rPr lang="en-US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attiva varia periodicamente</a:t>
            </a:r>
            <a:endParaRPr lang="en-US" sz="1950" dirty="0"/>
          </a:p>
        </p:txBody>
      </p:sp>
      <p:sp>
        <p:nvSpPr>
          <p:cNvPr id="16" name="Shape 12"/>
          <p:cNvSpPr/>
          <p:nvPr/>
        </p:nvSpPr>
        <p:spPr>
          <a:xfrm>
            <a:off x="13716000" y="5396409"/>
            <a:ext cx="152400" cy="152400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14039850" y="5310684"/>
            <a:ext cx="3433763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numero di nodi parte da un </a:t>
            </a:r>
            <a:r>
              <a:rPr lang="en-US" sz="19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minimo </a:t>
            </a:r>
            <a:r>
              <a:rPr lang="en-US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 ad un </a:t>
            </a:r>
            <a:r>
              <a:rPr lang="en-US" sz="19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massimo</a:t>
            </a:r>
            <a:r>
              <a:rPr lang="en-US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per passi incrementali di 20</a:t>
            </a:r>
            <a:endParaRPr lang="en-US" sz="1950" dirty="0"/>
          </a:p>
        </p:txBody>
      </p:sp>
      <p:sp>
        <p:nvSpPr>
          <p:cNvPr id="18" name="Shape 14"/>
          <p:cNvSpPr/>
          <p:nvPr/>
        </p:nvSpPr>
        <p:spPr>
          <a:xfrm>
            <a:off x="914400" y="8801100"/>
            <a:ext cx="16459200" cy="9906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9115425"/>
            <a:ext cx="361950" cy="3619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43100" y="9120188"/>
            <a:ext cx="1492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Vicini medi:</a:t>
            </a:r>
            <a:endParaRPr lang="en-US" sz="2250" dirty="0"/>
          </a:p>
        </p:txBody>
      </p:sp>
      <p:sp>
        <p:nvSpPr>
          <p:cNvPr id="21" name="Text 16"/>
          <p:cNvSpPr/>
          <p:nvPr/>
        </p:nvSpPr>
        <p:spPr>
          <a:xfrm>
            <a:off x="3509814" y="9082088"/>
            <a:ext cx="82837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~1.7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4471541" y="9120188"/>
            <a:ext cx="142330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 boe) →</a:t>
            </a:r>
            <a:endParaRPr lang="en-US" sz="2250" dirty="0"/>
          </a:p>
        </p:txBody>
      </p:sp>
      <p:sp>
        <p:nvSpPr>
          <p:cNvPr id="23" name="Text 18"/>
          <p:cNvSpPr/>
          <p:nvPr/>
        </p:nvSpPr>
        <p:spPr>
          <a:xfrm>
            <a:off x="5975003" y="9082088"/>
            <a:ext cx="51062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6618982" y="9120188"/>
            <a:ext cx="119166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 boe)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8832" y="280988"/>
            <a:ext cx="29171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Valutazione delle prestazioni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295400"/>
            <a:ext cx="821779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 di valutazione e metriche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3943350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914400" y="2286000"/>
            <a:ext cx="394335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2662238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76400" y="2647950"/>
            <a:ext cx="15842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Copertura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1200150" y="3171825"/>
            <a:ext cx="347300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Quanta parte della rete conosce in media ciascuna boa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1642021" y="4984105"/>
            <a:ext cx="434429" cy="497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620" baseline="-40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2095500" y="5004048"/>
            <a:ext cx="2470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2745432" y="4784973"/>
            <a:ext cx="2687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2361605" y="5204073"/>
            <a:ext cx="987772" cy="1905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2494955" y="5223123"/>
            <a:ext cx="81984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− 1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3444627" y="5004048"/>
            <a:ext cx="76170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100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1200150" y="6612434"/>
            <a:ext cx="3473006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741"/>
              </a:lnSpc>
              <a:buNone/>
            </a:pPr>
            <a:r>
              <a:rPr lang="en-US" sz="172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numero medio di nodi noti per boa</a:t>
            </a:r>
            <a:endParaRPr lang="en-US" sz="1725" dirty="0"/>
          </a:p>
        </p:txBody>
      </p:sp>
      <p:sp>
        <p:nvSpPr>
          <p:cNvPr id="18" name="Shape 14"/>
          <p:cNvSpPr/>
          <p:nvPr/>
        </p:nvSpPr>
        <p:spPr>
          <a:xfrm>
            <a:off x="5086350" y="2286000"/>
            <a:ext cx="3943350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5086350" y="2286000"/>
            <a:ext cx="394335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2662238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848350" y="2647950"/>
            <a:ext cx="16372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Affidabilità</a:t>
            </a:r>
            <a:endParaRPr lang="en-US" sz="2550" dirty="0"/>
          </a:p>
        </p:txBody>
      </p:sp>
      <p:sp>
        <p:nvSpPr>
          <p:cNvPr id="22" name="Text 17"/>
          <p:cNvSpPr/>
          <p:nvPr/>
        </p:nvSpPr>
        <p:spPr>
          <a:xfrm>
            <a:off x="5372100" y="3171824"/>
            <a:ext cx="3473006" cy="856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Quante opportunità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ricezione hanno effettivamente successo</a:t>
            </a:r>
            <a:endParaRPr lang="en-US" sz="1875" dirty="0"/>
          </a:p>
        </p:txBody>
      </p:sp>
      <p:sp>
        <p:nvSpPr>
          <p:cNvPr id="23" name="Text 18"/>
          <p:cNvSpPr/>
          <p:nvPr/>
        </p:nvSpPr>
        <p:spPr>
          <a:xfrm>
            <a:off x="6055519" y="5004048"/>
            <a:ext cx="9420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B-PDR</a:t>
            </a:r>
            <a:endParaRPr lang="en-US" sz="2700" dirty="0"/>
          </a:p>
        </p:txBody>
      </p:sp>
      <p:sp>
        <p:nvSpPr>
          <p:cNvPr id="24" name="Text 19"/>
          <p:cNvSpPr/>
          <p:nvPr/>
        </p:nvSpPr>
        <p:spPr>
          <a:xfrm>
            <a:off x="7016651" y="5004048"/>
            <a:ext cx="2470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700" dirty="0"/>
          </a:p>
        </p:txBody>
      </p:sp>
      <p:sp>
        <p:nvSpPr>
          <p:cNvPr id="25" name="Text 20"/>
          <p:cNvSpPr/>
          <p:nvPr/>
        </p:nvSpPr>
        <p:spPr>
          <a:xfrm>
            <a:off x="7497961" y="4745087"/>
            <a:ext cx="408444" cy="497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620" baseline="-40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</a:t>
            </a:r>
            <a:endParaRPr lang="en-US" sz="2700" dirty="0"/>
          </a:p>
        </p:txBody>
      </p:sp>
      <p:sp>
        <p:nvSpPr>
          <p:cNvPr id="26" name="Shape 21"/>
          <p:cNvSpPr/>
          <p:nvPr/>
        </p:nvSpPr>
        <p:spPr>
          <a:xfrm>
            <a:off x="7282755" y="5204073"/>
            <a:ext cx="777627" cy="1905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2"/>
          <p:cNvSpPr/>
          <p:nvPr/>
        </p:nvSpPr>
        <p:spPr>
          <a:xfrm>
            <a:off x="7416105" y="5223123"/>
            <a:ext cx="588690" cy="497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620" baseline="-40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</a:t>
            </a:r>
            <a:endParaRPr lang="en-US" sz="2700" dirty="0"/>
          </a:p>
        </p:txBody>
      </p:sp>
      <p:sp>
        <p:nvSpPr>
          <p:cNvPr id="28" name="Text 23"/>
          <p:cNvSpPr/>
          <p:nvPr/>
        </p:nvSpPr>
        <p:spPr>
          <a:xfrm>
            <a:off x="5372100" y="6612434"/>
            <a:ext cx="3473006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741"/>
              </a:lnSpc>
              <a:buNone/>
            </a:pPr>
            <a:r>
              <a:rPr lang="en-US" sz="172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ricezioni riuscite / opportunità di ricezione</a:t>
            </a:r>
            <a:endParaRPr lang="en-US" sz="1725" dirty="0"/>
          </a:p>
        </p:txBody>
      </p:sp>
      <p:sp>
        <p:nvSpPr>
          <p:cNvPr id="29" name="Shape 24"/>
          <p:cNvSpPr/>
          <p:nvPr/>
        </p:nvSpPr>
        <p:spPr>
          <a:xfrm>
            <a:off x="9258300" y="2286000"/>
            <a:ext cx="3943350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5"/>
          <p:cNvSpPr/>
          <p:nvPr/>
        </p:nvSpPr>
        <p:spPr>
          <a:xfrm>
            <a:off x="9258300" y="2286000"/>
            <a:ext cx="394335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4050" y="2662238"/>
            <a:ext cx="342900" cy="3429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020300" y="2647950"/>
            <a:ext cx="205915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rate</a:t>
            </a:r>
            <a:endParaRPr lang="en-US" sz="2550" dirty="0"/>
          </a:p>
        </p:txBody>
      </p:sp>
      <p:sp>
        <p:nvSpPr>
          <p:cNvPr id="33" name="Text 27"/>
          <p:cNvSpPr/>
          <p:nvPr/>
        </p:nvSpPr>
        <p:spPr>
          <a:xfrm>
            <a:off x="9544050" y="3171825"/>
            <a:ext cx="347300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Rapporto tra le collisioni e le opportunità di ricezione totali</a:t>
            </a:r>
            <a:endParaRPr lang="en-US" sz="1875" dirty="0"/>
          </a:p>
        </p:txBody>
      </p:sp>
      <p:sp>
        <p:nvSpPr>
          <p:cNvPr id="34" name="Text 28"/>
          <p:cNvSpPr/>
          <p:nvPr/>
        </p:nvSpPr>
        <p:spPr>
          <a:xfrm>
            <a:off x="10475863" y="5146328"/>
            <a:ext cx="4452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</a:t>
            </a:r>
            <a:endParaRPr lang="en-US" sz="2700" dirty="0"/>
          </a:p>
        </p:txBody>
      </p:sp>
      <p:sp>
        <p:nvSpPr>
          <p:cNvPr id="35" name="Text 29"/>
          <p:cNvSpPr/>
          <p:nvPr/>
        </p:nvSpPr>
        <p:spPr>
          <a:xfrm>
            <a:off x="10940207" y="5146328"/>
            <a:ext cx="2470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700" dirty="0"/>
          </a:p>
        </p:txBody>
      </p:sp>
      <p:sp>
        <p:nvSpPr>
          <p:cNvPr id="36" name="Text 30"/>
          <p:cNvSpPr/>
          <p:nvPr/>
        </p:nvSpPr>
        <p:spPr>
          <a:xfrm>
            <a:off x="11503670" y="4907310"/>
            <a:ext cx="22787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700" dirty="0"/>
          </a:p>
        </p:txBody>
      </p:sp>
      <p:sp>
        <p:nvSpPr>
          <p:cNvPr id="37" name="Shape 31"/>
          <p:cNvSpPr/>
          <p:nvPr/>
        </p:nvSpPr>
        <p:spPr>
          <a:xfrm>
            <a:off x="11206311" y="5326410"/>
            <a:ext cx="777627" cy="1905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2"/>
          <p:cNvSpPr/>
          <p:nvPr/>
        </p:nvSpPr>
        <p:spPr>
          <a:xfrm>
            <a:off x="11339661" y="5345460"/>
            <a:ext cx="588690" cy="497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620" baseline="-40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</a:t>
            </a:r>
            <a:endParaRPr lang="en-US" sz="2700" dirty="0"/>
          </a:p>
        </p:txBody>
      </p:sp>
      <p:sp>
        <p:nvSpPr>
          <p:cNvPr id="39" name="Text 33"/>
          <p:cNvSpPr/>
          <p:nvPr/>
        </p:nvSpPr>
        <p:spPr>
          <a:xfrm>
            <a:off x="9556432" y="6593384"/>
            <a:ext cx="370903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741"/>
              </a:lnSpc>
              <a:buNone/>
            </a:pPr>
            <a:r>
              <a:rPr lang="en-US" sz="172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collisioni / opportunità di ricezione</a:t>
            </a:r>
            <a:endParaRPr lang="en-US" sz="1725" dirty="0"/>
          </a:p>
        </p:txBody>
      </p:sp>
      <p:sp>
        <p:nvSpPr>
          <p:cNvPr id="40" name="Shape 34"/>
          <p:cNvSpPr/>
          <p:nvPr/>
        </p:nvSpPr>
        <p:spPr>
          <a:xfrm>
            <a:off x="13430250" y="2286000"/>
            <a:ext cx="3943350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Shape 35"/>
          <p:cNvSpPr/>
          <p:nvPr/>
        </p:nvSpPr>
        <p:spPr>
          <a:xfrm>
            <a:off x="13430250" y="2286000"/>
            <a:ext cx="394335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0" y="2662238"/>
            <a:ext cx="342900" cy="3429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4192250" y="2647950"/>
            <a:ext cx="182161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loss</a:t>
            </a:r>
            <a:endParaRPr lang="en-US" sz="2550" dirty="0"/>
          </a:p>
        </p:txBody>
      </p:sp>
      <p:sp>
        <p:nvSpPr>
          <p:cNvPr id="44" name="Text 37"/>
          <p:cNvSpPr/>
          <p:nvPr/>
        </p:nvSpPr>
        <p:spPr>
          <a:xfrm>
            <a:off x="13716000" y="3171825"/>
            <a:ext cx="347300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Perdite totali: </a:t>
            </a:r>
            <a:r>
              <a:rPr lang="en-US" sz="1875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collisioni + perdite del </a:t>
            </a: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 (PL ≥ CR)</a:t>
            </a:r>
            <a:endParaRPr lang="en-US" sz="1875" dirty="0"/>
          </a:p>
        </p:txBody>
      </p:sp>
      <p:sp>
        <p:nvSpPr>
          <p:cNvPr id="45" name="Text 38"/>
          <p:cNvSpPr/>
          <p:nvPr/>
        </p:nvSpPr>
        <p:spPr>
          <a:xfrm>
            <a:off x="14443174" y="5004048"/>
            <a:ext cx="39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2700" dirty="0"/>
          </a:p>
        </p:txBody>
      </p:sp>
      <p:sp>
        <p:nvSpPr>
          <p:cNvPr id="46" name="Text 39"/>
          <p:cNvSpPr/>
          <p:nvPr/>
        </p:nvSpPr>
        <p:spPr>
          <a:xfrm>
            <a:off x="14859744" y="5004048"/>
            <a:ext cx="2470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700" dirty="0"/>
          </a:p>
        </p:txBody>
      </p:sp>
      <p:sp>
        <p:nvSpPr>
          <p:cNvPr id="47" name="Text 40"/>
          <p:cNvSpPr/>
          <p:nvPr/>
        </p:nvSpPr>
        <p:spPr>
          <a:xfrm>
            <a:off x="15259199" y="4745087"/>
            <a:ext cx="1091610" cy="497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+ E</a:t>
            </a:r>
            <a:r>
              <a:rPr lang="en-US" sz="1620" baseline="-40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</a:t>
            </a:r>
            <a:endParaRPr lang="en-US" sz="2700" dirty="0"/>
          </a:p>
        </p:txBody>
      </p:sp>
      <p:sp>
        <p:nvSpPr>
          <p:cNvPr id="48" name="Shape 41"/>
          <p:cNvSpPr/>
          <p:nvPr/>
        </p:nvSpPr>
        <p:spPr>
          <a:xfrm>
            <a:off x="15354449" y="5204073"/>
            <a:ext cx="777627" cy="1905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9" name="Text 42"/>
          <p:cNvSpPr/>
          <p:nvPr/>
        </p:nvSpPr>
        <p:spPr>
          <a:xfrm>
            <a:off x="15487799" y="5223123"/>
            <a:ext cx="588690" cy="497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620" baseline="-40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</a:t>
            </a:r>
            <a:endParaRPr lang="en-US" sz="2700" dirty="0"/>
          </a:p>
        </p:txBody>
      </p:sp>
      <p:sp>
        <p:nvSpPr>
          <p:cNvPr id="50" name="Text 43"/>
          <p:cNvSpPr/>
          <p:nvPr/>
        </p:nvSpPr>
        <p:spPr>
          <a:xfrm>
            <a:off x="13716000" y="6589118"/>
            <a:ext cx="3473006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741"/>
              </a:lnSpc>
              <a:buNone/>
            </a:pPr>
            <a:r>
              <a:rPr lang="en-US" sz="172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perdite totali / opportunità di ricezione</a:t>
            </a:r>
            <a:endParaRPr lang="en-US" sz="1725" dirty="0"/>
          </a:p>
        </p:txBody>
      </p:sp>
      <p:sp>
        <p:nvSpPr>
          <p:cNvPr id="51" name="Shape 44"/>
          <p:cNvSpPr/>
          <p:nvPr/>
        </p:nvSpPr>
        <p:spPr>
          <a:xfrm>
            <a:off x="914400" y="7886700"/>
            <a:ext cx="16459200" cy="1809750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Shape 45"/>
          <p:cNvSpPr/>
          <p:nvPr/>
        </p:nvSpPr>
        <p:spPr>
          <a:xfrm>
            <a:off x="914400" y="7886700"/>
            <a:ext cx="16459200" cy="5715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8639175"/>
            <a:ext cx="361950" cy="36195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1981200" y="8441531"/>
            <a:ext cx="1016677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Scalabilità</a:t>
            </a:r>
            <a:endParaRPr lang="en-US" sz="2550" dirty="0"/>
          </a:p>
        </p:txBody>
      </p:sp>
      <p:sp>
        <p:nvSpPr>
          <p:cNvPr id="55" name="Text 47"/>
          <p:cNvSpPr/>
          <p:nvPr/>
        </p:nvSpPr>
        <p:spPr>
          <a:xfrm>
            <a:off x="1981200" y="8889206"/>
            <a:ext cx="9429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copertura e affidabilità evolvono al crescere della densità</a:t>
            </a:r>
            <a:endParaRPr lang="en-US" sz="1875" dirty="0"/>
          </a:p>
        </p:txBody>
      </p:sp>
      <p:sp>
        <p:nvSpPr>
          <p:cNvPr id="56" name="Text 48"/>
          <p:cNvSpPr/>
          <p:nvPr/>
        </p:nvSpPr>
        <p:spPr>
          <a:xfrm>
            <a:off x="10734774" y="8615363"/>
            <a:ext cx="47892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50" dirty="0"/>
          </a:p>
        </p:txBody>
      </p:sp>
      <p:sp>
        <p:nvSpPr>
          <p:cNvPr id="57" name="Text 49"/>
          <p:cNvSpPr/>
          <p:nvPr/>
        </p:nvSpPr>
        <p:spPr>
          <a:xfrm>
            <a:off x="11270853" y="8615363"/>
            <a:ext cx="4381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58" name="Text 50"/>
          <p:cNvSpPr/>
          <p:nvPr/>
        </p:nvSpPr>
        <p:spPr>
          <a:xfrm>
            <a:off x="11766153" y="8615363"/>
            <a:ext cx="143934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boe</a:t>
            </a:r>
            <a:endParaRPr lang="en-US" sz="2850" dirty="0"/>
          </a:p>
        </p:txBody>
      </p:sp>
      <p:sp>
        <p:nvSpPr>
          <p:cNvPr id="59" name="Text 51"/>
          <p:cNvSpPr/>
          <p:nvPr/>
        </p:nvSpPr>
        <p:spPr>
          <a:xfrm>
            <a:off x="13430250" y="8686800"/>
            <a:ext cx="3143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gruppi di densità, a passi di 20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08809" y="280988"/>
            <a:ext cx="233419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· canale ideale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257300"/>
            <a:ext cx="87503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 ideale · Scoperta </a:t>
            </a:r>
            <a:r>
              <a:rPr lang="en-US" sz="42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della rete</a:t>
            </a:r>
            <a:endParaRPr lang="en-US" sz="4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" b="-18"/>
          <a:stretch/>
        </p:blipFill>
        <p:spPr>
          <a:xfrm>
            <a:off x="1047750" y="2400300"/>
            <a:ext cx="8096250" cy="701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096500" y="2667000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10096500" y="2905125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60–76%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10096500" y="3524250"/>
            <a:ext cx="800481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tetto del single-hop: senza inoltro la scoperta non converge mai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10096500" y="4341019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0096500" y="4579144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100%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10096500" y="5198269"/>
            <a:ext cx="800481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ntrambe 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modalità multi-hop completano la scoperta da 60 boe in su</a:t>
            </a:r>
            <a:endParaRPr lang="en-US" sz="1875" dirty="0"/>
          </a:p>
        </p:txBody>
      </p:sp>
      <p:sp>
        <p:nvSpPr>
          <p:cNvPr id="13" name="Shape 9"/>
          <p:cNvSpPr/>
          <p:nvPr/>
        </p:nvSpPr>
        <p:spPr>
          <a:xfrm>
            <a:off x="10096500" y="6015038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10096500" y="6253163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 più veloce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10096500" y="6872288"/>
            <a:ext cx="7734300" cy="811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forwarding aggregato 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la scoperta in pochi secondi; </a:t>
            </a: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singolo converge in 10–25 secondi</a:t>
            </a:r>
            <a:endParaRPr lang="en-US" sz="1875" dirty="0"/>
          </a:p>
        </p:txBody>
      </p:sp>
    </p:spTree>
    <p:extLst>
      <p:ext uri="{BB962C8B-B14F-4D97-AF65-F5344CB8AC3E}">
        <p14:creationId xmlns:p14="http://schemas.microsoft.com/office/powerpoint/2010/main" val="4240011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08809" y="280988"/>
            <a:ext cx="233419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it-IT" sz="180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· canale ideale</a:t>
            </a:r>
            <a:endParaRPr lang="it-IT" sz="1800"/>
          </a:p>
        </p:txBody>
      </p:sp>
      <p:sp>
        <p:nvSpPr>
          <p:cNvPr id="5" name="Text 2"/>
          <p:cNvSpPr/>
          <p:nvPr/>
        </p:nvSpPr>
        <p:spPr>
          <a:xfrm>
            <a:off x="914400" y="1257300"/>
            <a:ext cx="1065332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42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 ideale · Affidabilità (B-PDR)</a:t>
            </a:r>
            <a:endParaRPr lang="it-IT" sz="42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" b="-18"/>
          <a:stretch/>
        </p:blipFill>
        <p:spPr>
          <a:xfrm>
            <a:off x="1047750" y="2400300"/>
            <a:ext cx="8096250" cy="701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096500" y="2667000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10096500" y="2905125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36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0.97</a:t>
            </a:r>
            <a:endParaRPr lang="it-IT" sz="3600"/>
          </a:p>
        </p:txBody>
      </p:sp>
      <p:sp>
        <p:nvSpPr>
          <p:cNvPr id="9" name="Text 5"/>
          <p:cNvSpPr/>
          <p:nvPr/>
        </p:nvSpPr>
        <p:spPr>
          <a:xfrm>
            <a:off x="10096500" y="3524250"/>
            <a:ext cx="74954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B-PDR del single-hop a ogni densità: il solo traffico periodico non satura il canale</a:t>
            </a:r>
            <a:endParaRPr lang="it-IT" sz="1875"/>
          </a:p>
        </p:txBody>
      </p:sp>
      <p:sp>
        <p:nvSpPr>
          <p:cNvPr id="10" name="Shape 6"/>
          <p:cNvSpPr/>
          <p:nvPr/>
        </p:nvSpPr>
        <p:spPr>
          <a:xfrm>
            <a:off x="10096500" y="4662488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0096500" y="4900613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36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it-IT" sz="3600"/>
          </a:p>
        </p:txBody>
      </p:sp>
      <p:sp>
        <p:nvSpPr>
          <p:cNvPr id="12" name="Text 8"/>
          <p:cNvSpPr/>
          <p:nvPr/>
        </p:nvSpPr>
        <p:spPr>
          <a:xfrm>
            <a:off x="10096500" y="5519738"/>
            <a:ext cx="74954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 aggregato a 100 boe: i frame più lunghi pesano sull'airtime, ma l’affidabilità è comunque elevata</a:t>
            </a:r>
          </a:p>
          <a:p>
            <a:pPr marL="0" indent="0" algn="l">
              <a:lnSpc>
                <a:spcPct val="116379"/>
              </a:lnSpc>
              <a:buNone/>
            </a:pPr>
            <a:endParaRPr lang="it-IT" sz="1875"/>
          </a:p>
        </p:txBody>
      </p:sp>
      <p:sp>
        <p:nvSpPr>
          <p:cNvPr id="13" name="Shape 9"/>
          <p:cNvSpPr/>
          <p:nvPr/>
        </p:nvSpPr>
        <p:spPr>
          <a:xfrm>
            <a:off x="10096500" y="6657975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10096500" y="6896100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36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</a:t>
            </a:r>
            <a:endParaRPr lang="it-IT" sz="3600"/>
          </a:p>
        </p:txBody>
      </p:sp>
      <p:sp>
        <p:nvSpPr>
          <p:cNvPr id="15" name="Text 11"/>
          <p:cNvSpPr/>
          <p:nvPr/>
        </p:nvSpPr>
        <p:spPr>
          <a:xfrm>
            <a:off x="10096500" y="7515225"/>
            <a:ext cx="8004810" cy="777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 singolo a 100 boe (CR 0.56): la modalità meno affidabile e onerosa in termini di collisioni</a:t>
            </a:r>
            <a:endParaRPr lang="it-IT" sz="1875"/>
          </a:p>
        </p:txBody>
      </p:sp>
    </p:spTree>
    <p:extLst>
      <p:ext uri="{BB962C8B-B14F-4D97-AF65-F5344CB8AC3E}">
        <p14:creationId xmlns:p14="http://schemas.microsoft.com/office/powerpoint/2010/main" val="3528182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96406" y="280988"/>
            <a:ext cx="27878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· canale non ideale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257300"/>
            <a:ext cx="99695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 non ideale · Scoperta </a:t>
            </a:r>
            <a:r>
              <a:rPr lang="en-US" sz="42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della rete</a:t>
            </a:r>
            <a:endParaRPr lang="en-US" sz="4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" b="-18"/>
          <a:stretch/>
        </p:blipFill>
        <p:spPr>
          <a:xfrm>
            <a:off x="1047750" y="2400300"/>
            <a:ext cx="8096250" cy="701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096500" y="2667000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10096500" y="2905125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49–66%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10096500" y="3524250"/>
            <a:ext cx="800481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single-hop paga ogni perdita: un beacon perso è una scoperta persa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10096500" y="4341019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0096500" y="4579144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99.5%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10096500" y="5198269"/>
            <a:ext cx="8004810" cy="759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 aggregato da 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boe in su: la ridondanza dei percorsi compensa le perdite</a:t>
            </a:r>
            <a:endParaRPr lang="en-US" sz="1875" dirty="0"/>
          </a:p>
        </p:txBody>
      </p:sp>
      <p:sp>
        <p:nvSpPr>
          <p:cNvPr id="13" name="Shape 9"/>
          <p:cNvSpPr/>
          <p:nvPr/>
        </p:nvSpPr>
        <p:spPr>
          <a:xfrm>
            <a:off x="10096500" y="6015038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10096500" y="6253163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~97% vs ~100%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10096500" y="6872288"/>
            <a:ext cx="74954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boe 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forwarding singolo resta 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sotto l'aggregato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ogni inoltro perso degrada la possibilit</a:t>
            </a: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di scoperta e per questo non converge</a:t>
            </a:r>
            <a:endParaRPr lang="en-US" sz="1875" dirty="0"/>
          </a:p>
        </p:txBody>
      </p:sp>
    </p:spTree>
    <p:extLst>
      <p:ext uri="{BB962C8B-B14F-4D97-AF65-F5344CB8AC3E}">
        <p14:creationId xmlns:p14="http://schemas.microsoft.com/office/powerpoint/2010/main" val="1893167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96406" y="280988"/>
            <a:ext cx="27878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· canale non ideale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257300"/>
            <a:ext cx="1179537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 non ideale · Affidabilità </a:t>
            </a:r>
            <a:r>
              <a:rPr lang="en-US" sz="42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(B-PDR)</a:t>
            </a:r>
            <a:endParaRPr lang="en-US" sz="4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" b="-18"/>
          <a:stretch/>
        </p:blipFill>
        <p:spPr>
          <a:xfrm>
            <a:off x="1047750" y="2400300"/>
            <a:ext cx="8096250" cy="701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096500" y="2667000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10096500" y="2905125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0.40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10096500" y="3524250"/>
            <a:ext cx="7495413" cy="1054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tetto imposto dal 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canale: tutte le trasmissioni che superano la portata di 70m hanno probabilit</a:t>
            </a: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di consegna riuscita molto bassa (P = 15%)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10096500" y="4341019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0096500" y="4579144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 ≈ </a:t>
            </a:r>
            <a:r>
              <a:rPr lang="en-US" sz="36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36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ingle-hop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10096500" y="5198269"/>
            <a:ext cx="7683500" cy="845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forwarding aggregato mostra un’affidabilit</a:t>
            </a: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simile al single-hop, raggiungendo però la copertura totale</a:t>
            </a:r>
            <a:endParaRPr lang="en-US" sz="1875" dirty="0"/>
          </a:p>
        </p:txBody>
      </p:sp>
      <p:sp>
        <p:nvSpPr>
          <p:cNvPr id="13" name="Shape 9"/>
          <p:cNvSpPr/>
          <p:nvPr/>
        </p:nvSpPr>
        <p:spPr>
          <a:xfrm>
            <a:off x="10096500" y="6015038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10096500" y="6253163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10096500" y="6872288"/>
            <a:ext cx="74954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dirty="0" err="1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singolo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100 </a:t>
            </a:r>
            <a:r>
              <a:rPr lang="en-US" sz="1875" dirty="0" err="1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err="1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valori più bassi: fortemente penalizzato dall’aggiunta degli errori di canale alle collisioni</a:t>
            </a:r>
            <a:endParaRPr lang="en-US" sz="1875" dirty="0"/>
          </a:p>
        </p:txBody>
      </p:sp>
    </p:spTree>
    <p:extLst>
      <p:ext uri="{BB962C8B-B14F-4D97-AF65-F5344CB8AC3E}">
        <p14:creationId xmlns:p14="http://schemas.microsoft.com/office/powerpoint/2010/main" val="3713520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96406" y="280988"/>
            <a:ext cx="27878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· canale non ideale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257300"/>
            <a:ext cx="1438200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loss · la metrica che divide i </a:t>
            </a:r>
            <a:r>
              <a:rPr lang="en-US" sz="42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tipi di canale</a:t>
            </a:r>
            <a:endParaRPr lang="en-US" sz="4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" b="-18"/>
          <a:stretch/>
        </p:blipFill>
        <p:spPr>
          <a:xfrm>
            <a:off x="1047750" y="2400300"/>
            <a:ext cx="8096250" cy="701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096500" y="2667000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10096500" y="2905125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= CR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10096500" y="3524250"/>
            <a:ext cx="74954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 ideale la perdita 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identica alla contesa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qui il mezzo contribuisce con il suo errore probabilistico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10096500" y="4662488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0096500" y="4900613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0.54-0.61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10096500" y="5519738"/>
            <a:ext cx="74954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Già a 20 boe, con contesa pressocch</a:t>
            </a:r>
            <a:r>
              <a:rPr lang="it-IT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inesistente: perdita dovuta quasi esclusivamente agli errori del canale</a:t>
            </a:r>
            <a:endParaRPr lang="en-US" sz="1875" dirty="0"/>
          </a:p>
        </p:txBody>
      </p:sp>
      <p:sp>
        <p:nvSpPr>
          <p:cNvPr id="13" name="Shape 9"/>
          <p:cNvSpPr/>
          <p:nvPr/>
        </p:nvSpPr>
        <p:spPr>
          <a:xfrm>
            <a:off x="10096500" y="6657975"/>
            <a:ext cx="7277100" cy="285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10096500" y="6896100"/>
            <a:ext cx="80048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10096500" y="7515225"/>
            <a:ext cx="749541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1875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orwarding singolo a </a:t>
            </a: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boe: la contesa si somma alla perdita probabilistica</a:t>
            </a:r>
            <a:endParaRPr lang="en-US" sz="1875" dirty="0"/>
          </a:p>
        </p:txBody>
      </p:sp>
    </p:spTree>
    <p:extLst>
      <p:ext uri="{BB962C8B-B14F-4D97-AF65-F5344CB8AC3E}">
        <p14:creationId xmlns:p14="http://schemas.microsoft.com/office/powerpoint/2010/main" val="3073327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1">
            <a:extLst>
              <a:ext uri="{FF2B5EF4-FFF2-40B4-BE49-F238E27FC236}">
                <a16:creationId xmlns:a16="http://schemas.microsoft.com/office/drawing/2014/main" id="{DC6EDFD7-1245-4129-9DEB-191F294A7FE0}"/>
              </a:ext>
            </a:extLst>
          </p:cNvPr>
          <p:cNvSpPr/>
          <p:nvPr/>
        </p:nvSpPr>
        <p:spPr>
          <a:xfrm>
            <a:off x="10025390" y="2571749"/>
            <a:ext cx="7962900" cy="5706383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1E2039B-0AFB-C9FB-3520-8220ADD5847D}"/>
              </a:ext>
            </a:extLst>
          </p:cNvPr>
          <p:cNvSpPr/>
          <p:nvPr/>
        </p:nvSpPr>
        <p:spPr>
          <a:xfrm>
            <a:off x="10025390" y="2571749"/>
            <a:ext cx="7962900" cy="170487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55901" y="280988"/>
            <a:ext cx="17323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it-IT" sz="180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· latenze</a:t>
            </a:r>
            <a:endParaRPr lang="it-IT" sz="180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887313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42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Latenze a 100 boe (canale ideale)</a:t>
            </a:r>
            <a:endParaRPr lang="it-IT" sz="4200"/>
          </a:p>
        </p:txBody>
      </p:sp>
      <p:sp>
        <p:nvSpPr>
          <p:cNvPr id="6" name="Shape 3"/>
          <p:cNvSpPr/>
          <p:nvPr/>
        </p:nvSpPr>
        <p:spPr>
          <a:xfrm>
            <a:off x="914400" y="2343150"/>
            <a:ext cx="8382000" cy="676275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162050" y="2533650"/>
            <a:ext cx="3101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Modalità</a:t>
            </a:r>
            <a:endParaRPr lang="it-IT" sz="1950"/>
          </a:p>
        </p:txBody>
      </p:sp>
      <p:sp>
        <p:nvSpPr>
          <p:cNvPr id="8" name="Text 5"/>
          <p:cNvSpPr/>
          <p:nvPr/>
        </p:nvSpPr>
        <p:spPr>
          <a:xfrm>
            <a:off x="3981450" y="2533650"/>
            <a:ext cx="20640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Consegna</a:t>
            </a:r>
            <a:endParaRPr lang="it-IT" sz="1950"/>
          </a:p>
        </p:txBody>
      </p:sp>
      <p:sp>
        <p:nvSpPr>
          <p:cNvPr id="9" name="Text 6"/>
          <p:cNvSpPr/>
          <p:nvPr/>
        </p:nvSpPr>
        <p:spPr>
          <a:xfrm>
            <a:off x="5857875" y="2533650"/>
            <a:ext cx="19592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Reazione</a:t>
            </a:r>
            <a:endParaRPr lang="it-IT" sz="1950"/>
          </a:p>
        </p:txBody>
      </p:sp>
      <p:sp>
        <p:nvSpPr>
          <p:cNvPr id="10" name="Text 7"/>
          <p:cNvSpPr/>
          <p:nvPr/>
        </p:nvSpPr>
        <p:spPr>
          <a:xfrm>
            <a:off x="7639050" y="2533650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it-IT" sz="1950"/>
          </a:p>
        </p:txBody>
      </p:sp>
      <p:sp>
        <p:nvSpPr>
          <p:cNvPr id="11" name="Shape 8"/>
          <p:cNvSpPr/>
          <p:nvPr/>
        </p:nvSpPr>
        <p:spPr>
          <a:xfrm>
            <a:off x="914400" y="3019425"/>
            <a:ext cx="8382000" cy="676275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162050" y="3209925"/>
            <a:ext cx="3101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Single-hop</a:t>
            </a:r>
            <a:endParaRPr lang="it-IT" sz="1950"/>
          </a:p>
        </p:txBody>
      </p:sp>
      <p:sp>
        <p:nvSpPr>
          <p:cNvPr id="13" name="Text 10"/>
          <p:cNvSpPr/>
          <p:nvPr/>
        </p:nvSpPr>
        <p:spPr>
          <a:xfrm>
            <a:off x="3981450" y="3205163"/>
            <a:ext cx="20640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1.9–2.9</a:t>
            </a:r>
            <a:endParaRPr lang="it-IT" sz="1950"/>
          </a:p>
        </p:txBody>
      </p:sp>
      <p:sp>
        <p:nvSpPr>
          <p:cNvPr id="14" name="Text 11"/>
          <p:cNvSpPr/>
          <p:nvPr/>
        </p:nvSpPr>
        <p:spPr>
          <a:xfrm>
            <a:off x="5857875" y="3205163"/>
            <a:ext cx="19592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2.8–3.2</a:t>
            </a:r>
            <a:endParaRPr lang="it-IT" sz="1950"/>
          </a:p>
        </p:txBody>
      </p:sp>
      <p:sp>
        <p:nvSpPr>
          <p:cNvPr id="15" name="Text 12"/>
          <p:cNvSpPr/>
          <p:nvPr/>
        </p:nvSpPr>
        <p:spPr>
          <a:xfrm>
            <a:off x="7639050" y="3205163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0.2–0.3</a:t>
            </a:r>
            <a:endParaRPr lang="it-IT" sz="1950"/>
          </a:p>
        </p:txBody>
      </p:sp>
      <p:sp>
        <p:nvSpPr>
          <p:cNvPr id="16" name="Shape 13"/>
          <p:cNvSpPr/>
          <p:nvPr/>
        </p:nvSpPr>
        <p:spPr>
          <a:xfrm>
            <a:off x="914400" y="3695700"/>
            <a:ext cx="8382000" cy="6762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914400" y="4362450"/>
            <a:ext cx="8382000" cy="9525"/>
          </a:xfrm>
          <a:prstGeom prst="rect">
            <a:avLst/>
          </a:prstGeom>
          <a:solidFill>
            <a:srgbClr val="D9CDD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1162050" y="3881438"/>
            <a:ext cx="3101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Forw. aggregato</a:t>
            </a:r>
            <a:endParaRPr lang="it-IT" sz="1950"/>
          </a:p>
        </p:txBody>
      </p:sp>
      <p:sp>
        <p:nvSpPr>
          <p:cNvPr id="19" name="Text 16"/>
          <p:cNvSpPr/>
          <p:nvPr/>
        </p:nvSpPr>
        <p:spPr>
          <a:xfrm>
            <a:off x="3981450" y="3876675"/>
            <a:ext cx="20640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18.7–20.7</a:t>
            </a:r>
            <a:endParaRPr lang="it-IT" sz="1950"/>
          </a:p>
        </p:txBody>
      </p:sp>
      <p:sp>
        <p:nvSpPr>
          <p:cNvPr id="20" name="Text 17"/>
          <p:cNvSpPr/>
          <p:nvPr/>
        </p:nvSpPr>
        <p:spPr>
          <a:xfrm>
            <a:off x="5857875" y="3881438"/>
            <a:ext cx="19592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</a:t>
            </a:r>
            <a:endParaRPr lang="it-IT" sz="1950"/>
          </a:p>
        </p:txBody>
      </p:sp>
      <p:sp>
        <p:nvSpPr>
          <p:cNvPr id="21" name="Text 18"/>
          <p:cNvSpPr/>
          <p:nvPr/>
        </p:nvSpPr>
        <p:spPr>
          <a:xfrm>
            <a:off x="7639050" y="3876675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0.6–2.8</a:t>
            </a:r>
            <a:endParaRPr lang="it-IT" sz="1950"/>
          </a:p>
        </p:txBody>
      </p:sp>
      <p:sp>
        <p:nvSpPr>
          <p:cNvPr id="22" name="Shape 19"/>
          <p:cNvSpPr/>
          <p:nvPr/>
        </p:nvSpPr>
        <p:spPr>
          <a:xfrm>
            <a:off x="914400" y="4371975"/>
            <a:ext cx="8382000" cy="676275"/>
          </a:xfrm>
          <a:prstGeom prst="rect">
            <a:avLst/>
          </a:prstGeom>
          <a:solidFill>
            <a:srgbClr val="F7F1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1162050" y="4562475"/>
            <a:ext cx="3101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Forw. singolo</a:t>
            </a:r>
            <a:endParaRPr lang="it-IT" sz="1950"/>
          </a:p>
        </p:txBody>
      </p:sp>
      <p:sp>
        <p:nvSpPr>
          <p:cNvPr id="24" name="Text 21"/>
          <p:cNvSpPr/>
          <p:nvPr/>
        </p:nvSpPr>
        <p:spPr>
          <a:xfrm>
            <a:off x="3981450" y="4557713"/>
            <a:ext cx="20640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19.5–32.9</a:t>
            </a:r>
            <a:endParaRPr lang="it-IT" sz="1950"/>
          </a:p>
        </p:txBody>
      </p:sp>
      <p:sp>
        <p:nvSpPr>
          <p:cNvPr id="25" name="Text 22"/>
          <p:cNvSpPr/>
          <p:nvPr/>
        </p:nvSpPr>
        <p:spPr>
          <a:xfrm>
            <a:off x="5857875" y="4562475"/>
            <a:ext cx="19592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86–114</a:t>
            </a:r>
            <a:endParaRPr lang="it-IT" sz="1950"/>
          </a:p>
        </p:txBody>
      </p:sp>
      <p:sp>
        <p:nvSpPr>
          <p:cNvPr id="26" name="Text 23"/>
          <p:cNvSpPr/>
          <p:nvPr/>
        </p:nvSpPr>
        <p:spPr>
          <a:xfrm>
            <a:off x="7639050" y="4557713"/>
            <a:ext cx="2095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it-IT" sz="19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5.4–12.4</a:t>
            </a:r>
            <a:endParaRPr lang="it-IT" sz="1950"/>
          </a:p>
        </p:txBody>
      </p:sp>
      <p:sp>
        <p:nvSpPr>
          <p:cNvPr id="27" name="Text 24"/>
          <p:cNvSpPr/>
          <p:nvPr/>
        </p:nvSpPr>
        <p:spPr>
          <a:xfrm>
            <a:off x="914400" y="5410200"/>
            <a:ext cx="863346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it-IT" sz="180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canale non ideale i valori sono leggermente inferiori per via del traffico minore</a:t>
            </a:r>
            <a:endParaRPr lang="it-IT" sz="1800"/>
          </a:p>
        </p:txBody>
      </p:sp>
      <p:sp>
        <p:nvSpPr>
          <p:cNvPr id="29" name="Text 25"/>
          <p:cNvSpPr/>
          <p:nvPr/>
        </p:nvSpPr>
        <p:spPr>
          <a:xfrm>
            <a:off x="10722048" y="2884885"/>
            <a:ext cx="5821234" cy="520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it-IT" sz="28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reazione distingue le modalità</a:t>
            </a:r>
            <a:endParaRPr lang="it-IT" sz="2850"/>
          </a:p>
        </p:txBody>
      </p:sp>
      <p:sp>
        <p:nvSpPr>
          <p:cNvPr id="30" name="Shape 26"/>
          <p:cNvSpPr/>
          <p:nvPr/>
        </p:nvSpPr>
        <p:spPr>
          <a:xfrm>
            <a:off x="10150548" y="3789760"/>
            <a:ext cx="152400" cy="177348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7"/>
          <p:cNvSpPr/>
          <p:nvPr/>
        </p:nvSpPr>
        <p:spPr>
          <a:xfrm>
            <a:off x="10512498" y="3675460"/>
            <a:ext cx="6648450" cy="942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it-IT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latenza di consegna </a:t>
            </a: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 nell'ordine dei millisecondi ovunque</a:t>
            </a:r>
            <a:endParaRPr lang="it-IT" sz="2250"/>
          </a:p>
        </p:txBody>
      </p:sp>
      <p:sp>
        <p:nvSpPr>
          <p:cNvPr id="32" name="Shape 28"/>
          <p:cNvSpPr/>
          <p:nvPr/>
        </p:nvSpPr>
        <p:spPr>
          <a:xfrm>
            <a:off x="10150548" y="4961335"/>
            <a:ext cx="152400" cy="177348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29"/>
          <p:cNvSpPr/>
          <p:nvPr/>
        </p:nvSpPr>
        <p:spPr>
          <a:xfrm>
            <a:off x="10512498" y="4847035"/>
            <a:ext cx="6654800" cy="1526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it-IT" sz="2250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Nell'</a:t>
            </a:r>
            <a:r>
              <a:rPr lang="it-IT" sz="2250" b="1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aggregato</a:t>
            </a:r>
            <a:r>
              <a:rPr lang="it-IT" sz="2250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 la conoscenza arriva in blocco con un solo beacon, perciò la reazione resta allineata alla consegna (~16 ms)</a:t>
            </a:r>
          </a:p>
        </p:txBody>
      </p:sp>
      <p:sp>
        <p:nvSpPr>
          <p:cNvPr id="34" name="Shape 30"/>
          <p:cNvSpPr/>
          <p:nvPr/>
        </p:nvSpPr>
        <p:spPr>
          <a:xfrm>
            <a:off x="10150548" y="6597364"/>
            <a:ext cx="152400" cy="177348"/>
          </a:xfrm>
          <a:prstGeom prst="ellipse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1"/>
          <p:cNvSpPr/>
          <p:nvPr/>
        </p:nvSpPr>
        <p:spPr>
          <a:xfrm>
            <a:off x="10512498" y="6483064"/>
            <a:ext cx="6896100" cy="1526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it-IT" sz="225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singolo la scoperta di un'origine lontana attende l'intera catena di ritrasmissioni: </a:t>
            </a:r>
            <a:r>
              <a:rPr lang="it-IT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quasi un ordine di grandezza in più</a:t>
            </a:r>
            <a:endParaRPr lang="it-IT" sz="2250"/>
          </a:p>
        </p:txBody>
      </p:sp>
      <p:sp>
        <p:nvSpPr>
          <p:cNvPr id="90" name="Text Def Header"/>
          <p:cNvSpPr/>
          <p:nvPr/>
        </p:nvSpPr>
        <p:spPr>
          <a:xfrm>
            <a:off x="914400" y="6477000"/>
            <a:ext cx="863346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it-IT" sz="31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Definizioni</a:t>
            </a:r>
            <a:r>
              <a:rPr lang="it-IT" sz="210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</a:p>
        </p:txBody>
      </p:sp>
      <p:sp>
        <p:nvSpPr>
          <p:cNvPr id="91" name="Text Defs"/>
          <p:cNvSpPr/>
          <p:nvPr/>
        </p:nvSpPr>
        <p:spPr>
          <a:xfrm>
            <a:off x="914400" y="6934200"/>
            <a:ext cx="8633460" cy="30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it-IT" sz="190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Latenza di consegna</a:t>
            </a:r>
            <a:r>
              <a:rPr lang="it-IT" sz="20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it-IT" sz="19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tra la generazione di un beacon e la sua prima ricezione da parte di un qualunque nodo della rete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it-IT" sz="190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Latenza di reazione</a:t>
            </a:r>
            <a:r>
              <a:rPr lang="it-IT" sz="20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it-IT" sz="19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perché un nodo scopra per la prima volta una data origine, misurato alla prima ricezione di un suo beacon rispetto al tempo di creazione di questo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it-IT" sz="190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Latenza di scheduler</a:t>
            </a:r>
            <a:r>
              <a:rPr lang="it-IT" sz="19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it-IT" sz="20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it-IT" sz="190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tra la decisione di trasmettere e l'effettivo inizio della trasmissione: il costo della contesa CSMA/CA</a:t>
            </a:r>
          </a:p>
        </p:txBody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F7C7D7B6-69E8-A0C8-CAC3-ABCB59A09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5062" y="2959725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38200"/>
          </a:xfrm>
          <a:prstGeom prst="rect">
            <a:avLst/>
          </a:prstGeom>
          <a:solidFill>
            <a:srgbClr val="822433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914400" y="200025"/>
            <a:ext cx="1347341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536888" y="280988"/>
            <a:ext cx="14233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1333500"/>
            <a:ext cx="352224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4216400"/>
            <a:ext cx="2806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15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1471930" y="4235450"/>
            <a:ext cx="78371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Attivare i meccanismi progettati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71930" y="4654550"/>
            <a:ext cx="7338441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5C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di forwarding density-aware per il singolo e limite di hop per l'aggregato, già presenti nel codice ma disattivati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9527592" y="4237832"/>
            <a:ext cx="273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150" b="1">
                <a:solidFill>
                  <a:srgbClr val="822433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10085122" y="4235450"/>
            <a:ext cx="6380299" cy="459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C1C1E"/>
                </a:solidFill>
                <a:latin typeface="Arial" pitchFamily="34" charset="0"/>
                <a:cs typeface="Arial" pitchFamily="34" charset="-120"/>
              </a:rPr>
              <a:t>Nuovo protocollo adattivo con errore variabile</a:t>
            </a:r>
            <a:endParaRPr lang="en-US" sz="2250" b="1" dirty="0">
              <a:solidFill>
                <a:srgbClr val="1C1C1E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085122" y="4695032"/>
            <a:ext cx="7397750" cy="1090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5C5C60"/>
                </a:solidFill>
                <a:latin typeface="Arial" pitchFamily="34" charset="0"/>
                <a:cs typeface="Arial" pitchFamily="34" charset="-120"/>
              </a:rPr>
              <a:t>valutare le prestazioni dell’aggregato nel canale non ideale su un nuovo protocollo adattivo con errore probabilistico in funzione della lunghezza del beacon </a:t>
            </a: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09D3682C-0414-D7C2-D297-6C3774203ADB}"/>
              </a:ext>
            </a:extLst>
          </p:cNvPr>
          <p:cNvSpPr/>
          <p:nvPr/>
        </p:nvSpPr>
        <p:spPr>
          <a:xfrm>
            <a:off x="6117406" y="6970544"/>
            <a:ext cx="7397750" cy="90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5C5C60"/>
                </a:solidFill>
                <a:latin typeface="Arial" pitchFamily="34" charset="0"/>
                <a:cs typeface="Arial" pitchFamily="34" charset="-120"/>
              </a:rPr>
              <a:t>avviare nuove simulazioni tenendo conto dei limiti energetici realistici delle boe e apportare ottimizzazioni che riescano a compensarli</a:t>
            </a:r>
            <a:endParaRPr lang="en-US" sz="1875" dirty="0">
              <a:solidFill>
                <a:srgbClr val="5C5C6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010D17AF-65B5-D21C-3F29-31FC0A849329}"/>
              </a:ext>
            </a:extLst>
          </p:cNvPr>
          <p:cNvSpPr/>
          <p:nvPr/>
        </p:nvSpPr>
        <p:spPr>
          <a:xfrm>
            <a:off x="5571127" y="6503878"/>
            <a:ext cx="2806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150" b="1">
                <a:solidFill>
                  <a:srgbClr val="82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15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CCEC256-6BDF-2FCD-4A09-7491AB382C87}"/>
              </a:ext>
            </a:extLst>
          </p:cNvPr>
          <p:cNvSpPr/>
          <p:nvPr/>
        </p:nvSpPr>
        <p:spPr>
          <a:xfrm>
            <a:off x="6128657" y="6522928"/>
            <a:ext cx="50473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Valutazione del modello energetico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770920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82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303323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-26" r="-26"/>
          <a:stretch/>
        </p:blipFill>
        <p:spPr>
          <a:xfrm>
            <a:off x="15716250" y="838200"/>
            <a:ext cx="1524000" cy="495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750" y="2076450"/>
            <a:ext cx="7934325" cy="5553529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2"/>
          <p:cNvSpPr/>
          <p:nvPr/>
        </p:nvSpPr>
        <p:spPr>
          <a:xfrm>
            <a:off x="1047750" y="2076450"/>
            <a:ext cx="7934325" cy="381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2490788"/>
            <a:ext cx="323850" cy="323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5000" y="2476500"/>
            <a:ext cx="408147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multi-hop è una necessità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428750" y="3179986"/>
            <a:ext cx="7613142" cy="1246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2000" dirty="0">
                <a:solidFill>
                  <a:srgbClr val="EC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single-hop si ferma al 49–76% di rete scoperta e non converge; le modalità multi-hop completano la scoperta dalle densità medie in su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9305925" y="2076450"/>
            <a:ext cx="7934325" cy="5553529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9305925" y="2076450"/>
            <a:ext cx="7934325" cy="381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925" y="2490788"/>
            <a:ext cx="323850" cy="3238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163175" y="2476500"/>
            <a:ext cx="43511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L'aggregato domina il singolo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9686924" y="3206751"/>
            <a:ext cx="7172325" cy="1220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2000" dirty="0">
                <a:solidFill>
                  <a:srgbClr val="ECD8DC"/>
                </a:solidFill>
                <a:latin typeface="Arial" pitchFamily="34" charset="0"/>
                <a:cs typeface="Arial" pitchFamily="34" charset="-120"/>
              </a:rPr>
              <a:t>stessa copertura a una frazione del costo </a:t>
            </a:r>
            <a:r>
              <a:rPr lang="en-US" sz="2000">
                <a:solidFill>
                  <a:srgbClr val="ECD8DC"/>
                </a:solidFill>
                <a:latin typeface="Arial" pitchFamily="34" charset="0"/>
                <a:cs typeface="Arial" pitchFamily="34" charset="-120"/>
              </a:rPr>
              <a:t>in contesa e latenza di reazione </a:t>
            </a:r>
            <a:r>
              <a:rPr lang="en-US" sz="2000" dirty="0">
                <a:solidFill>
                  <a:srgbClr val="ECD8DC"/>
                </a:solidFill>
                <a:latin typeface="Arial" pitchFamily="34" charset="0"/>
                <a:cs typeface="Arial" pitchFamily="34" charset="-120"/>
              </a:rPr>
              <a:t>~16 ms contro </a:t>
            </a:r>
            <a:r>
              <a:rPr lang="en-US" sz="2000">
                <a:solidFill>
                  <a:srgbClr val="ECD8DC"/>
                </a:solidFill>
                <a:latin typeface="Arial" pitchFamily="34" charset="0"/>
                <a:cs typeface="Arial" pitchFamily="34" charset="-120"/>
              </a:rPr>
              <a:t>86–114 ms</a:t>
            </a:r>
            <a:endParaRPr lang="en-US" sz="2000" dirty="0">
              <a:solidFill>
                <a:srgbClr val="ECD8DC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1047750" y="8582025"/>
            <a:ext cx="16192500" cy="1905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18"/>
          <p:cNvSpPr/>
          <p:nvPr/>
        </p:nvSpPr>
        <p:spPr>
          <a:xfrm>
            <a:off x="1047750" y="8934450"/>
            <a:ext cx="135683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EC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simulatore esteso, una suite di metriche più ricca e una campagna riproducibile a sostegno delle evoluzioni di ProSafe</a:t>
            </a:r>
            <a:endParaRPr lang="en-US" sz="1875" dirty="0"/>
          </a:p>
        </p:txBody>
      </p:sp>
      <p:sp>
        <p:nvSpPr>
          <p:cNvPr id="26" name="Text 19"/>
          <p:cNvSpPr/>
          <p:nvPr/>
        </p:nvSpPr>
        <p:spPr>
          <a:xfrm>
            <a:off x="14390043" y="8939213"/>
            <a:ext cx="313522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 per l'attenzione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9FCBD9-3A37-4130-B431-2F7D22ED200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2de84222-b102-4947-afc7-b442a0765a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1966</Words>
  <Application>Microsoft Office PowerPoint</Application>
  <PresentationFormat>Personalizzato</PresentationFormat>
  <Paragraphs>257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2" baseType="lpstr">
      <vt:lpstr>Arial</vt:lpstr>
      <vt:lpstr>Verdana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Filippo Pierbattisti</cp:lastModifiedBy>
  <cp:revision>107</cp:revision>
  <dcterms:created xsi:type="dcterms:W3CDTF">2026-07-17T14:44:03Z</dcterms:created>
  <dcterms:modified xsi:type="dcterms:W3CDTF">2026-07-17T21:53:49Z</dcterms:modified>
</cp:coreProperties>
</file>